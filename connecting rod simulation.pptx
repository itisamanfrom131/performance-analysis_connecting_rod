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4"/>
  </p:sldMasterIdLst>
  <p:notesMasterIdLst>
    <p:notesMasterId r:id="rId16"/>
  </p:notesMasterIdLst>
  <p:sldIdLst>
    <p:sldId id="296" r:id="rId5"/>
    <p:sldId id="300" r:id="rId6"/>
    <p:sldId id="298" r:id="rId7"/>
    <p:sldId id="299" r:id="rId8"/>
    <p:sldId id="301" r:id="rId9"/>
    <p:sldId id="302" r:id="rId10"/>
    <p:sldId id="305" r:id="rId11"/>
    <p:sldId id="262" r:id="rId12"/>
    <p:sldId id="303" r:id="rId13"/>
    <p:sldId id="304" r:id="rId14"/>
    <p:sldId id="30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10820E-ACC7-D93E-EB67-6CDD481DAE5B}" name="ROHIT RAJ" initials="RR" userId="c2051b9191a5461a" providerId="Windows Live"/>
  <p188:author id="{B63B3AE2-17D1-9F23-500C-38A07204FC21}" name="Astitva k" initials="Ak" userId="96ae25db3580f42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arsh\OneDrive\Desktop\stress%20vs%20strain%20surve%20of%20carbon%20aisi1045.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1803149606299206E-2"/>
          <c:y val="0.14741583688952112"/>
          <c:w val="0.84905796150481194"/>
          <c:h val="0.74296696198892642"/>
        </c:manualLayout>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Sheet1!$A$2:$A$26</c:f>
              <c:numCache>
                <c:formatCode>General</c:formatCode>
                <c:ptCount val="25"/>
                <c:pt idx="0">
                  <c:v>0</c:v>
                </c:pt>
                <c:pt idx="1">
                  <c:v>2.0000000000000001E-4</c:v>
                </c:pt>
                <c:pt idx="2">
                  <c:v>4.0000000000000002E-4</c:v>
                </c:pt>
                <c:pt idx="3">
                  <c:v>5.9999999999999995E-4</c:v>
                </c:pt>
                <c:pt idx="4">
                  <c:v>8.0000000000000004E-4</c:v>
                </c:pt>
                <c:pt idx="5">
                  <c:v>1E-3</c:v>
                </c:pt>
                <c:pt idx="6">
                  <c:v>2E-3</c:v>
                </c:pt>
                <c:pt idx="7">
                  <c:v>3.0000000000000001E-3</c:v>
                </c:pt>
                <c:pt idx="8">
                  <c:v>4.0000000000000001E-3</c:v>
                </c:pt>
                <c:pt idx="9">
                  <c:v>5.0000000000000001E-3</c:v>
                </c:pt>
                <c:pt idx="10">
                  <c:v>6.0000000000000001E-3</c:v>
                </c:pt>
                <c:pt idx="11">
                  <c:v>7.0000000000000001E-3</c:v>
                </c:pt>
                <c:pt idx="12">
                  <c:v>8.0000000000000002E-3</c:v>
                </c:pt>
                <c:pt idx="13">
                  <c:v>8.9999999999999993E-3</c:v>
                </c:pt>
                <c:pt idx="14">
                  <c:v>0.01</c:v>
                </c:pt>
                <c:pt idx="15">
                  <c:v>1.0999999999999999E-2</c:v>
                </c:pt>
                <c:pt idx="16">
                  <c:v>1.2E-2</c:v>
                </c:pt>
                <c:pt idx="17">
                  <c:v>1.2999999999999999E-2</c:v>
                </c:pt>
                <c:pt idx="18">
                  <c:v>1.4E-2</c:v>
                </c:pt>
                <c:pt idx="19">
                  <c:v>1.4999999999999999E-2</c:v>
                </c:pt>
                <c:pt idx="20">
                  <c:v>1.6E-2</c:v>
                </c:pt>
                <c:pt idx="21">
                  <c:v>1.7000000000000001E-2</c:v>
                </c:pt>
                <c:pt idx="22">
                  <c:v>1.7999999999999999E-2</c:v>
                </c:pt>
                <c:pt idx="23">
                  <c:v>1.9E-2</c:v>
                </c:pt>
                <c:pt idx="24">
                  <c:v>0.02</c:v>
                </c:pt>
              </c:numCache>
            </c:numRef>
          </c:xVal>
          <c:yVal>
            <c:numRef>
              <c:f>Sheet1!$B$2:$B$26</c:f>
              <c:numCache>
                <c:formatCode>General</c:formatCode>
                <c:ptCount val="25"/>
                <c:pt idx="0">
                  <c:v>0</c:v>
                </c:pt>
                <c:pt idx="1">
                  <c:v>100</c:v>
                </c:pt>
                <c:pt idx="2">
                  <c:v>200</c:v>
                </c:pt>
                <c:pt idx="3">
                  <c:v>300</c:v>
                </c:pt>
                <c:pt idx="4">
                  <c:v>400</c:v>
                </c:pt>
                <c:pt idx="5">
                  <c:v>495</c:v>
                </c:pt>
                <c:pt idx="6">
                  <c:v>605</c:v>
                </c:pt>
                <c:pt idx="7">
                  <c:v>655</c:v>
                </c:pt>
                <c:pt idx="8">
                  <c:v>682</c:v>
                </c:pt>
                <c:pt idx="9">
                  <c:v>700</c:v>
                </c:pt>
                <c:pt idx="10">
                  <c:v>720</c:v>
                </c:pt>
                <c:pt idx="11">
                  <c:v>730</c:v>
                </c:pt>
                <c:pt idx="12">
                  <c:v>748</c:v>
                </c:pt>
                <c:pt idx="13">
                  <c:v>765</c:v>
                </c:pt>
                <c:pt idx="14">
                  <c:v>770</c:v>
                </c:pt>
                <c:pt idx="15">
                  <c:v>780</c:v>
                </c:pt>
                <c:pt idx="16">
                  <c:v>792</c:v>
                </c:pt>
                <c:pt idx="17">
                  <c:v>805</c:v>
                </c:pt>
                <c:pt idx="18">
                  <c:v>825</c:v>
                </c:pt>
                <c:pt idx="19">
                  <c:v>831</c:v>
                </c:pt>
                <c:pt idx="20">
                  <c:v>836</c:v>
                </c:pt>
                <c:pt idx="21">
                  <c:v>840</c:v>
                </c:pt>
                <c:pt idx="22">
                  <c:v>845</c:v>
                </c:pt>
                <c:pt idx="23">
                  <c:v>850</c:v>
                </c:pt>
                <c:pt idx="24">
                  <c:v>858</c:v>
                </c:pt>
              </c:numCache>
            </c:numRef>
          </c:yVal>
          <c:smooth val="0"/>
          <c:extLst>
            <c:ext xmlns:c16="http://schemas.microsoft.com/office/drawing/2014/chart" uri="{C3380CC4-5D6E-409C-BE32-E72D297353CC}">
              <c16:uniqueId val="{00000000-87E7-402A-926C-08FFE340A797}"/>
            </c:ext>
          </c:extLst>
        </c:ser>
        <c:dLbls>
          <c:showLegendKey val="0"/>
          <c:showVal val="0"/>
          <c:showCatName val="0"/>
          <c:showSerName val="0"/>
          <c:showPercent val="0"/>
          <c:showBubbleSize val="0"/>
        </c:dLbls>
        <c:axId val="464431087"/>
        <c:axId val="464414767"/>
      </c:scatterChart>
      <c:valAx>
        <c:axId val="46443108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in"/>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4414767"/>
        <c:crosses val="autoZero"/>
        <c:crossBetween val="midCat"/>
      </c:valAx>
      <c:valAx>
        <c:axId val="464414767"/>
        <c:scaling>
          <c:orientation val="minMax"/>
        </c:scaling>
        <c:delete val="0"/>
        <c:axPos val="l"/>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4431087"/>
        <c:crosses val="autoZero"/>
        <c:crossBetween val="midCat"/>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59CF6F-78A0-454F-9CDD-F3A245A54D50}" type="datetimeFigureOut">
              <a:rPr lang="en-IN" smtClean="0"/>
              <a:t>03-05-2025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2E7E7E-C6E2-4070-AF79-8706BE785906}" type="slidenum">
              <a:rPr lang="en-IN" smtClean="0"/>
              <a:t>‹#›</a:t>
            </a:fld>
            <a:endParaRPr lang="en-IN"/>
          </a:p>
        </p:txBody>
      </p:sp>
    </p:spTree>
    <p:extLst>
      <p:ext uri="{BB962C8B-B14F-4D97-AF65-F5344CB8AC3E}">
        <p14:creationId xmlns:p14="http://schemas.microsoft.com/office/powerpoint/2010/main" val="1432854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B4D5942-FD48-4D25-B7F5-CE83586FC1CB}" type="datetimeFigureOut">
              <a:rPr lang="en-IN" smtClean="0"/>
              <a:t>03-05-2025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3082431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4D5942-FD48-4D25-B7F5-CE83586FC1CB}"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3738847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4D5942-FD48-4D25-B7F5-CE83586FC1CB}"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3333875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4D5942-FD48-4D25-B7F5-CE83586FC1CB}"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2744211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4D5942-FD48-4D25-B7F5-CE83586FC1CB}" type="datetimeFigureOut">
              <a:rPr lang="en-IN" smtClean="0"/>
              <a:t>03-05-2025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1622210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4D5942-FD48-4D25-B7F5-CE83586FC1CB}" type="datetimeFigureOut">
              <a:rPr lang="en-IN" smtClean="0"/>
              <a:t>03-05-2025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2943543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4D5942-FD48-4D25-B7F5-CE83586FC1CB}" type="datetimeFigureOut">
              <a:rPr lang="en-IN" smtClean="0"/>
              <a:t>03-05-2025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2199988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4D5942-FD48-4D25-B7F5-CE83586FC1CB}"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2980887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4D5942-FD48-4D25-B7F5-CE83586FC1CB}"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785143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4D5942-FD48-4D25-B7F5-CE83586FC1CB}"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1396846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4D5942-FD48-4D25-B7F5-CE83586FC1CB}"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14780092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4D5942-FD48-4D25-B7F5-CE83586FC1CB}"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3193794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4D5942-FD48-4D25-B7F5-CE83586FC1CB}"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1415046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4D5942-FD48-4D25-B7F5-CE83586FC1CB}"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1238946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4D5942-FD48-4D25-B7F5-CE83586FC1CB}"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11693477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4D5942-FD48-4D25-B7F5-CE83586FC1CB}"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9304146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4D5942-FD48-4D25-B7F5-CE83586FC1CB}"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FD9817-C211-4A7D-9595-260AE11B6B74}" type="slidenum">
              <a:rPr lang="en-IN" smtClean="0"/>
              <a:t>‹#›</a:t>
            </a:fld>
            <a:endParaRPr lang="en-IN"/>
          </a:p>
        </p:txBody>
      </p:sp>
    </p:spTree>
    <p:extLst>
      <p:ext uri="{BB962C8B-B14F-4D97-AF65-F5344CB8AC3E}">
        <p14:creationId xmlns:p14="http://schemas.microsoft.com/office/powerpoint/2010/main" val="19251063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78755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6078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B4D5942-FD48-4D25-B7F5-CE83586FC1CB}" type="datetimeFigureOut">
              <a:rPr lang="en-IN" smtClean="0"/>
              <a:t>03-05-2025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1FD9817-C211-4A7D-9595-260AE11B6B74}" type="slidenum">
              <a:rPr lang="en-IN" smtClean="0"/>
              <a:t>‹#›</a:t>
            </a:fld>
            <a:endParaRPr lang="en-IN"/>
          </a:p>
        </p:txBody>
      </p:sp>
    </p:spTree>
    <p:extLst>
      <p:ext uri="{BB962C8B-B14F-4D97-AF65-F5344CB8AC3E}">
        <p14:creationId xmlns:p14="http://schemas.microsoft.com/office/powerpoint/2010/main" val="4063030764"/>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 id="2147483804" r:id="rId18"/>
    <p:sldLayoutId id="2147483805" r:id="rId19"/>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D3F3B79-FABE-6AFE-49EE-0B8352B8FF6E}"/>
              </a:ext>
            </a:extLst>
          </p:cNvPr>
          <p:cNvSpPr txBox="1"/>
          <p:nvPr/>
        </p:nvSpPr>
        <p:spPr>
          <a:xfrm>
            <a:off x="3238225" y="2115036"/>
            <a:ext cx="8229600" cy="584775"/>
          </a:xfrm>
          <a:prstGeom prst="rect">
            <a:avLst/>
          </a:prstGeom>
          <a:noFill/>
        </p:spPr>
        <p:txBody>
          <a:bodyPr wrap="square" rtlCol="0">
            <a:spAutoFit/>
          </a:bodyPr>
          <a:lstStyle/>
          <a:p>
            <a:r>
              <a:rPr lang="en-IN" sz="3200" b="1">
                <a:solidFill>
                  <a:srgbClr val="000066"/>
                </a:solidFill>
              </a:rPr>
              <a:t>Department of Mechanical Engineering</a:t>
            </a:r>
          </a:p>
        </p:txBody>
      </p:sp>
      <p:sp>
        <p:nvSpPr>
          <p:cNvPr id="8" name="TextBox 7">
            <a:extLst>
              <a:ext uri="{FF2B5EF4-FFF2-40B4-BE49-F238E27FC236}">
                <a16:creationId xmlns:a16="http://schemas.microsoft.com/office/drawing/2014/main" id="{BB8D566B-F37E-04A4-E53F-220AE6172D28}"/>
              </a:ext>
            </a:extLst>
          </p:cNvPr>
          <p:cNvSpPr txBox="1"/>
          <p:nvPr/>
        </p:nvSpPr>
        <p:spPr>
          <a:xfrm>
            <a:off x="2442615" y="3427332"/>
            <a:ext cx="9644608" cy="523220"/>
          </a:xfrm>
          <a:prstGeom prst="rect">
            <a:avLst/>
          </a:prstGeom>
          <a:noFill/>
        </p:spPr>
        <p:txBody>
          <a:bodyPr wrap="square" lIns="91440" tIns="45720" rIns="91440" bIns="45720" rtlCol="0" anchor="t">
            <a:spAutoFit/>
          </a:bodyPr>
          <a:lstStyle/>
          <a:p>
            <a:r>
              <a:rPr lang="en-IN" sz="2800" b="1" dirty="0">
                <a:solidFill>
                  <a:srgbClr val="000000"/>
                </a:solidFill>
                <a:latin typeface="Century Gothic"/>
              </a:rPr>
              <a:t>Project title :- Performance Analysis of Connecting Rod</a:t>
            </a:r>
          </a:p>
        </p:txBody>
      </p:sp>
      <p:sp>
        <p:nvSpPr>
          <p:cNvPr id="9" name="TextBox 8">
            <a:extLst>
              <a:ext uri="{FF2B5EF4-FFF2-40B4-BE49-F238E27FC236}">
                <a16:creationId xmlns:a16="http://schemas.microsoft.com/office/drawing/2014/main" id="{39D0CE13-AAC2-364A-CCBC-87A39FE8C1B5}"/>
              </a:ext>
            </a:extLst>
          </p:cNvPr>
          <p:cNvSpPr txBox="1"/>
          <p:nvPr/>
        </p:nvSpPr>
        <p:spPr>
          <a:xfrm>
            <a:off x="2442615" y="4199673"/>
            <a:ext cx="3748082" cy="1754326"/>
          </a:xfrm>
          <a:prstGeom prst="rect">
            <a:avLst/>
          </a:prstGeom>
          <a:noFill/>
        </p:spPr>
        <p:txBody>
          <a:bodyPr wrap="square" lIns="91440" tIns="45720" rIns="91440" bIns="45720" rtlCol="0" anchor="t">
            <a:spAutoFit/>
          </a:bodyPr>
          <a:lstStyle/>
          <a:p>
            <a:r>
              <a:rPr lang="en-IN" sz="2000" dirty="0"/>
              <a:t>Given By-</a:t>
            </a:r>
          </a:p>
          <a:p>
            <a:endParaRPr lang="en-IN" sz="800" dirty="0"/>
          </a:p>
          <a:p>
            <a:r>
              <a:rPr lang="en-IN" sz="2000" dirty="0"/>
              <a:t>AJAY PANCHAL            </a:t>
            </a:r>
            <a:r>
              <a:rPr lang="en-IN" sz="2000" dirty="0">
                <a:latin typeface="Calibri" panose="020F0502020204030204" pitchFamily="34" charset="0"/>
                <a:ea typeface="Calibri" panose="020F0502020204030204" pitchFamily="34" charset="0"/>
                <a:cs typeface="Calibri" panose="020F0502020204030204" pitchFamily="34" charset="0"/>
              </a:rPr>
              <a:t> 221310005</a:t>
            </a:r>
          </a:p>
          <a:p>
            <a:r>
              <a:rPr lang="en-IN" sz="2000" dirty="0">
                <a:latin typeface="Calibri" panose="020F0502020204030204" pitchFamily="34" charset="0"/>
                <a:ea typeface="Calibri" panose="020F0502020204030204" pitchFamily="34" charset="0"/>
                <a:cs typeface="Calibri" panose="020F0502020204030204" pitchFamily="34" charset="0"/>
              </a:rPr>
              <a:t>AKSHAR SINGH              221310008</a:t>
            </a:r>
          </a:p>
          <a:p>
            <a:r>
              <a:rPr lang="en-IN" sz="2000" dirty="0">
                <a:latin typeface="Calibri" panose="020F0502020204030204" pitchFamily="34" charset="0"/>
                <a:ea typeface="Calibri" panose="020F0502020204030204" pitchFamily="34" charset="0"/>
                <a:cs typeface="Calibri" panose="020F0502020204030204" pitchFamily="34" charset="0"/>
              </a:rPr>
              <a:t>AMAN GAUTAM            221310009</a:t>
            </a:r>
          </a:p>
          <a:p>
            <a:r>
              <a:rPr lang="en-IN" sz="2000" dirty="0">
                <a:latin typeface="Calibri" panose="020F0502020204030204" pitchFamily="34" charset="0"/>
                <a:ea typeface="Calibri" panose="020F0502020204030204" pitchFamily="34" charset="0"/>
                <a:cs typeface="Calibri" panose="020F0502020204030204" pitchFamily="34" charset="0"/>
              </a:rPr>
              <a:t>ARJUN KUMAR              221310012</a:t>
            </a:r>
          </a:p>
        </p:txBody>
      </p:sp>
      <p:sp>
        <p:nvSpPr>
          <p:cNvPr id="3" name="Slide Number Placeholder 2">
            <a:extLst>
              <a:ext uri="{FF2B5EF4-FFF2-40B4-BE49-F238E27FC236}">
                <a16:creationId xmlns:a16="http://schemas.microsoft.com/office/drawing/2014/main" id="{D7C21935-5CA1-2DDE-1A59-84E49BC42B19}"/>
              </a:ext>
            </a:extLst>
          </p:cNvPr>
          <p:cNvSpPr>
            <a:spLocks noGrp="1"/>
          </p:cNvSpPr>
          <p:nvPr>
            <p:ph type="sldNum" sz="quarter" idx="12"/>
          </p:nvPr>
        </p:nvSpPr>
        <p:spPr/>
        <p:txBody>
          <a:bodyPr/>
          <a:lstStyle/>
          <a:p>
            <a:fld id="{06FEDF93-2BFD-41CA-ABC7-B039102F3792}" type="slidenum">
              <a:rPr lang="en-US" smtClean="0"/>
              <a:t>1</a:t>
            </a:fld>
            <a:endParaRPr lang="en-US" dirty="0"/>
          </a:p>
        </p:txBody>
      </p:sp>
      <p:pic>
        <p:nvPicPr>
          <p:cNvPr id="4" name="Picture 3" descr="A blue and white logo&#10;&#10;Description automatically generated">
            <a:extLst>
              <a:ext uri="{FF2B5EF4-FFF2-40B4-BE49-F238E27FC236}">
                <a16:creationId xmlns:a16="http://schemas.microsoft.com/office/drawing/2014/main" id="{EAFCE61A-5E29-31AB-8BBF-A6A427A90223}"/>
              </a:ext>
            </a:extLst>
          </p:cNvPr>
          <p:cNvPicPr>
            <a:picLocks noChangeAspect="1"/>
          </p:cNvPicPr>
          <p:nvPr/>
        </p:nvPicPr>
        <p:blipFill>
          <a:blip r:embed="rId2"/>
          <a:stretch>
            <a:fillRect/>
          </a:stretch>
        </p:blipFill>
        <p:spPr>
          <a:xfrm>
            <a:off x="1653980" y="-1578"/>
            <a:ext cx="1593274" cy="1605732"/>
          </a:xfrm>
          <a:prstGeom prst="rect">
            <a:avLst/>
          </a:prstGeom>
        </p:spPr>
      </p:pic>
      <p:sp>
        <p:nvSpPr>
          <p:cNvPr id="16" name="TextBox 15">
            <a:extLst>
              <a:ext uri="{FF2B5EF4-FFF2-40B4-BE49-F238E27FC236}">
                <a16:creationId xmlns:a16="http://schemas.microsoft.com/office/drawing/2014/main" id="{3679D804-128C-3FA7-D86E-506B217546B3}"/>
              </a:ext>
            </a:extLst>
          </p:cNvPr>
          <p:cNvSpPr txBox="1"/>
          <p:nvPr/>
        </p:nvSpPr>
        <p:spPr>
          <a:xfrm>
            <a:off x="3250138" y="181765"/>
            <a:ext cx="8835827"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solidFill>
                  <a:srgbClr val="002060"/>
                </a:solidFill>
                <a:ea typeface="+mn-lt"/>
                <a:cs typeface="+mn-lt"/>
              </a:rPr>
              <a:t>NATIONAL INSTITUTE OF TECHNOLOGY DELHI</a:t>
            </a:r>
            <a:endParaRPr lang="en-US" sz="1600" b="1" dirty="0">
              <a:solidFill>
                <a:srgbClr val="002060"/>
              </a:solidFill>
              <a:ea typeface="+mn-lt"/>
              <a:cs typeface="+mn-lt"/>
            </a:endParaRPr>
          </a:p>
          <a:p>
            <a:endParaRPr lang="en-US" sz="600" b="1" dirty="0">
              <a:solidFill>
                <a:srgbClr val="002060"/>
              </a:solidFill>
              <a:ea typeface="+mn-lt"/>
              <a:cs typeface="+mn-lt"/>
            </a:endParaRPr>
          </a:p>
          <a:p>
            <a:r>
              <a:rPr lang="en-US" sz="3200" dirty="0">
                <a:solidFill>
                  <a:srgbClr val="002060"/>
                </a:solidFill>
                <a:ea typeface="+mn-lt"/>
                <a:cs typeface="+mn-lt"/>
              </a:rPr>
              <a:t>          </a:t>
            </a:r>
            <a:r>
              <a:rPr lang="en-US" sz="3200" b="1" dirty="0" err="1">
                <a:solidFill>
                  <a:srgbClr val="002060"/>
                </a:solidFill>
                <a:ea typeface="+mn-lt"/>
                <a:cs typeface="+mn-lt"/>
              </a:rPr>
              <a:t>राष्ट्रीय</a:t>
            </a:r>
            <a:r>
              <a:rPr lang="en-US" sz="3200" b="1" dirty="0">
                <a:solidFill>
                  <a:srgbClr val="002060"/>
                </a:solidFill>
                <a:ea typeface="+mn-lt"/>
                <a:cs typeface="+mn-lt"/>
              </a:rPr>
              <a:t> </a:t>
            </a:r>
            <a:r>
              <a:rPr lang="en-US" sz="3200" b="1" dirty="0" err="1">
                <a:solidFill>
                  <a:srgbClr val="002060"/>
                </a:solidFill>
                <a:ea typeface="+mn-lt"/>
                <a:cs typeface="+mn-lt"/>
              </a:rPr>
              <a:t>प्रौद्योगिकी</a:t>
            </a:r>
            <a:r>
              <a:rPr lang="en-US" sz="3200" b="1" dirty="0">
                <a:solidFill>
                  <a:srgbClr val="002060"/>
                </a:solidFill>
                <a:ea typeface="+mn-lt"/>
                <a:cs typeface="+mn-lt"/>
              </a:rPr>
              <a:t> </a:t>
            </a:r>
            <a:r>
              <a:rPr lang="en-US" sz="3200" b="1" dirty="0" err="1">
                <a:solidFill>
                  <a:srgbClr val="002060"/>
                </a:solidFill>
                <a:ea typeface="+mn-lt"/>
                <a:cs typeface="+mn-lt"/>
              </a:rPr>
              <a:t>संस्थान</a:t>
            </a:r>
            <a:r>
              <a:rPr lang="en-US" sz="3200" b="1" dirty="0">
                <a:solidFill>
                  <a:srgbClr val="002060"/>
                </a:solidFill>
                <a:ea typeface="+mn-lt"/>
                <a:cs typeface="+mn-lt"/>
              </a:rPr>
              <a:t> </a:t>
            </a:r>
            <a:r>
              <a:rPr lang="en-US" sz="3200" b="1" dirty="0" err="1">
                <a:solidFill>
                  <a:srgbClr val="002060"/>
                </a:solidFill>
                <a:ea typeface="+mn-lt"/>
                <a:cs typeface="+mn-lt"/>
              </a:rPr>
              <a:t>दिल्ली</a:t>
            </a:r>
            <a:endParaRPr lang="en-US" sz="3200" b="1"/>
          </a:p>
          <a:p>
            <a:endParaRPr lang="en-US" sz="2800" b="1">
              <a:solidFill>
                <a:srgbClr val="002060"/>
              </a:solidFill>
            </a:endParaRPr>
          </a:p>
        </p:txBody>
      </p:sp>
      <p:sp>
        <p:nvSpPr>
          <p:cNvPr id="17" name="TextBox 16">
            <a:extLst>
              <a:ext uri="{FF2B5EF4-FFF2-40B4-BE49-F238E27FC236}">
                <a16:creationId xmlns:a16="http://schemas.microsoft.com/office/drawing/2014/main" id="{DA7BCB57-62AE-E1CA-B9EB-58DF919C8F9F}"/>
              </a:ext>
            </a:extLst>
          </p:cNvPr>
          <p:cNvSpPr txBox="1"/>
          <p:nvPr/>
        </p:nvSpPr>
        <p:spPr>
          <a:xfrm>
            <a:off x="6320850" y="4169046"/>
            <a:ext cx="575528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Project Supervisor:- </a:t>
            </a:r>
            <a:r>
              <a:rPr lang="en-IN" sz="2000" b="0" i="0" dirty="0">
                <a:solidFill>
                  <a:srgbClr val="333333"/>
                </a:solidFill>
                <a:effectLst/>
                <a:latin typeface="-apple-system"/>
              </a:rPr>
              <a:t>Dr. Chitragupt Swaroop </a:t>
            </a:r>
            <a:r>
              <a:rPr lang="en-IN" sz="2000" dirty="0">
                <a:solidFill>
                  <a:srgbClr val="333333"/>
                </a:solidFill>
                <a:latin typeface="-apple-system"/>
              </a:rPr>
              <a:t>C</a:t>
            </a:r>
            <a:r>
              <a:rPr lang="en-IN" sz="2000" b="0" i="0" dirty="0">
                <a:solidFill>
                  <a:srgbClr val="333333"/>
                </a:solidFill>
                <a:effectLst/>
                <a:latin typeface="-apple-system"/>
              </a:rPr>
              <a:t>hitransh</a:t>
            </a:r>
          </a:p>
          <a:p>
            <a:r>
              <a:rPr lang="en-US" sz="2000" dirty="0">
                <a:solidFill>
                  <a:srgbClr val="333333"/>
                </a:solidFill>
                <a:latin typeface="-apple-system"/>
              </a:rPr>
              <a:t>                                      </a:t>
            </a:r>
            <a:endParaRPr lang="en-IN" sz="2000" dirty="0">
              <a:solidFill>
                <a:srgbClr val="333333"/>
              </a:solidFill>
              <a:latin typeface="-apple-system"/>
            </a:endParaRPr>
          </a:p>
        </p:txBody>
      </p:sp>
    </p:spTree>
    <p:extLst>
      <p:ext uri="{BB962C8B-B14F-4D97-AF65-F5344CB8AC3E}">
        <p14:creationId xmlns:p14="http://schemas.microsoft.com/office/powerpoint/2010/main" val="658900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233492" y="530126"/>
            <a:ext cx="6202759" cy="590649"/>
          </a:xfrm>
          <a:prstGeom prst="rect">
            <a:avLst/>
          </a:prstGeom>
          <a:noFill/>
          <a:ln/>
        </p:spPr>
        <p:txBody>
          <a:bodyPr wrap="none" lIns="0" tIns="0" rIns="0" bIns="0" rtlCol="0" anchor="t"/>
          <a:lstStyle/>
          <a:p>
            <a:pPr>
              <a:lnSpc>
                <a:spcPts val="4625"/>
              </a:lnSpc>
            </a:pPr>
            <a:r>
              <a:rPr lang="en-US" sz="3708" dirty="0">
                <a:solidFill>
                  <a:srgbClr val="403CCF"/>
                </a:solidFill>
                <a:latin typeface="Libre Baskerville" pitchFamily="34" charset="0"/>
                <a:ea typeface="Libre Baskerville" pitchFamily="34" charset="-122"/>
                <a:cs typeface="Libre Baskerville" pitchFamily="34" charset="-120"/>
              </a:rPr>
              <a:t>Introduction</a:t>
            </a:r>
            <a:endParaRPr lang="en-US" sz="3708" dirty="0"/>
          </a:p>
        </p:txBody>
      </p:sp>
      <p:sp>
        <p:nvSpPr>
          <p:cNvPr id="4" name="Shape 1"/>
          <p:cNvSpPr/>
          <p:nvPr/>
        </p:nvSpPr>
        <p:spPr>
          <a:xfrm>
            <a:off x="5233492" y="1404243"/>
            <a:ext cx="6297018" cy="1153907"/>
          </a:xfrm>
          <a:prstGeom prst="roundRect">
            <a:avLst>
              <a:gd name="adj" fmla="val 2603"/>
            </a:avLst>
          </a:prstGeom>
          <a:solidFill>
            <a:srgbClr val="EAE8F3"/>
          </a:solidFill>
          <a:ln/>
        </p:spPr>
        <p:txBody>
          <a:bodyPr/>
          <a:lstStyle/>
          <a:p>
            <a:endParaRPr lang="en-IN" sz="1500"/>
          </a:p>
        </p:txBody>
      </p:sp>
      <p:sp>
        <p:nvSpPr>
          <p:cNvPr id="6" name="Text 3"/>
          <p:cNvSpPr/>
          <p:nvPr/>
        </p:nvSpPr>
        <p:spPr>
          <a:xfrm>
            <a:off x="5312248" y="1442071"/>
            <a:ext cx="6233892" cy="923330"/>
          </a:xfrm>
          <a:prstGeom prst="rect">
            <a:avLst/>
          </a:prstGeom>
          <a:noFill/>
          <a:ln/>
        </p:spPr>
        <p:txBody>
          <a:bodyPr wrap="square" lIns="0" tIns="0" rIns="0" bIns="0" rtlCol="0" anchor="t">
            <a:spAutoFit/>
          </a:bodyPr>
          <a:lstStyle/>
          <a:p>
            <a:pPr>
              <a:lnSpc>
                <a:spcPts val="2375"/>
              </a:lnSpc>
            </a:pPr>
            <a:r>
              <a:rPr lang="en-US" sz="2000" dirty="0">
                <a:solidFill>
                  <a:srgbClr val="49495A"/>
                </a:solidFill>
                <a:latin typeface="Open Sans" pitchFamily="34" charset="0"/>
                <a:ea typeface="Open Sans" pitchFamily="34" charset="-122"/>
                <a:cs typeface="Open Sans" pitchFamily="34" charset="-120"/>
              </a:rPr>
              <a:t>The connecting rod is a critical component in IC engines, transmitting force from the piston to crank shaft</a:t>
            </a:r>
            <a:endParaRPr lang="en-US" sz="2000" dirty="0"/>
          </a:p>
        </p:txBody>
      </p:sp>
      <p:sp>
        <p:nvSpPr>
          <p:cNvPr id="7" name="Shape 4"/>
          <p:cNvSpPr/>
          <p:nvPr/>
        </p:nvSpPr>
        <p:spPr>
          <a:xfrm>
            <a:off x="5249122" y="2682380"/>
            <a:ext cx="6297018" cy="1089124"/>
          </a:xfrm>
          <a:prstGeom prst="roundRect">
            <a:avLst>
              <a:gd name="adj" fmla="val 2603"/>
            </a:avLst>
          </a:prstGeom>
          <a:solidFill>
            <a:srgbClr val="EAE8F3"/>
          </a:solidFill>
          <a:ln/>
        </p:spPr>
        <p:txBody>
          <a:bodyPr/>
          <a:lstStyle/>
          <a:p>
            <a:endParaRPr lang="en-IN" sz="1500" dirty="0"/>
          </a:p>
        </p:txBody>
      </p:sp>
      <p:sp>
        <p:nvSpPr>
          <p:cNvPr id="9" name="Text 6"/>
          <p:cNvSpPr/>
          <p:nvPr/>
        </p:nvSpPr>
        <p:spPr>
          <a:xfrm>
            <a:off x="5356146" y="2703162"/>
            <a:ext cx="6189994" cy="923330"/>
          </a:xfrm>
          <a:prstGeom prst="rect">
            <a:avLst/>
          </a:prstGeom>
          <a:noFill/>
          <a:ln/>
        </p:spPr>
        <p:txBody>
          <a:bodyPr wrap="square" lIns="0" tIns="0" rIns="0" bIns="0" rtlCol="0" anchor="t">
            <a:spAutoFit/>
          </a:bodyPr>
          <a:lstStyle/>
          <a:p>
            <a:pPr>
              <a:lnSpc>
                <a:spcPts val="2375"/>
              </a:lnSpc>
            </a:pPr>
            <a:r>
              <a:rPr lang="en-US" altLang="en-US" sz="2000" dirty="0">
                <a:solidFill>
                  <a:srgbClr val="49495A"/>
                </a:solidFill>
                <a:latin typeface="Open Sans" pitchFamily="34" charset="0"/>
                <a:ea typeface="Open Sans" pitchFamily="34" charset="-122"/>
                <a:cs typeface="Open Sans" pitchFamily="34" charset="-120"/>
              </a:rPr>
              <a:t>Traditionally manufactured from cast iron due to its good damping</a:t>
            </a:r>
          </a:p>
          <a:p>
            <a:pPr>
              <a:lnSpc>
                <a:spcPts val="2375"/>
              </a:lnSpc>
            </a:pPr>
            <a:r>
              <a:rPr lang="en-US" altLang="en-US" sz="2000" dirty="0">
                <a:solidFill>
                  <a:srgbClr val="49495A"/>
                </a:solidFill>
                <a:latin typeface="Open Sans" pitchFamily="34" charset="0"/>
                <a:ea typeface="Open Sans" pitchFamily="34" charset="-122"/>
                <a:cs typeface="Open Sans" pitchFamily="34" charset="-120"/>
              </a:rPr>
              <a:t>properties and ease of casting</a:t>
            </a:r>
            <a:r>
              <a:rPr lang="en-US" sz="2000" dirty="0">
                <a:solidFill>
                  <a:srgbClr val="49495A"/>
                </a:solidFill>
                <a:latin typeface="Open Sans" pitchFamily="34" charset="0"/>
                <a:ea typeface="Open Sans" pitchFamily="34" charset="-122"/>
                <a:cs typeface="Open Sans" pitchFamily="34" charset="-120"/>
              </a:rPr>
              <a:t> </a:t>
            </a:r>
          </a:p>
        </p:txBody>
      </p:sp>
      <p:sp>
        <p:nvSpPr>
          <p:cNvPr id="10" name="Shape 7"/>
          <p:cNvSpPr/>
          <p:nvPr/>
        </p:nvSpPr>
        <p:spPr>
          <a:xfrm>
            <a:off x="5233492" y="3960516"/>
            <a:ext cx="6297018" cy="748644"/>
          </a:xfrm>
          <a:prstGeom prst="roundRect">
            <a:avLst>
              <a:gd name="adj" fmla="val 2603"/>
            </a:avLst>
          </a:prstGeom>
          <a:solidFill>
            <a:srgbClr val="EAE8F3"/>
          </a:solidFill>
          <a:ln/>
        </p:spPr>
        <p:txBody>
          <a:bodyPr/>
          <a:lstStyle/>
          <a:p>
            <a:endParaRPr lang="en-IN" sz="1500"/>
          </a:p>
        </p:txBody>
      </p:sp>
      <p:sp>
        <p:nvSpPr>
          <p:cNvPr id="12" name="Text 9"/>
          <p:cNvSpPr/>
          <p:nvPr/>
        </p:nvSpPr>
        <p:spPr>
          <a:xfrm>
            <a:off x="5249122" y="3964572"/>
            <a:ext cx="6013747" cy="615553"/>
          </a:xfrm>
          <a:prstGeom prst="rect">
            <a:avLst/>
          </a:prstGeom>
          <a:noFill/>
          <a:ln/>
        </p:spPr>
        <p:txBody>
          <a:bodyPr wrap="square" lIns="0" tIns="0" rIns="0" bIns="0" rtlCol="0" anchor="t">
            <a:spAutoFit/>
          </a:bodyPr>
          <a:lstStyle/>
          <a:p>
            <a:pPr>
              <a:lnSpc>
                <a:spcPts val="2375"/>
              </a:lnSpc>
            </a:pPr>
            <a:r>
              <a:rPr lang="en-US" sz="2000" dirty="0">
                <a:solidFill>
                  <a:srgbClr val="49495A"/>
                </a:solidFill>
                <a:latin typeface="Open Sans" pitchFamily="34" charset="0"/>
                <a:ea typeface="Open Sans" pitchFamily="34" charset="-122"/>
                <a:cs typeface="Open Sans" pitchFamily="34" charset="-120"/>
              </a:rPr>
              <a:t>However, cast iron presents limitations in strength-to-weight ratio and fatigue resistance.</a:t>
            </a:r>
          </a:p>
        </p:txBody>
      </p:sp>
      <p:sp>
        <p:nvSpPr>
          <p:cNvPr id="13" name="Shape 10"/>
          <p:cNvSpPr/>
          <p:nvPr/>
        </p:nvSpPr>
        <p:spPr>
          <a:xfrm>
            <a:off x="5215942" y="4857450"/>
            <a:ext cx="6330198" cy="1470424"/>
          </a:xfrm>
          <a:prstGeom prst="roundRect">
            <a:avLst>
              <a:gd name="adj" fmla="val 2603"/>
            </a:avLst>
          </a:prstGeom>
          <a:solidFill>
            <a:srgbClr val="EAE8F3"/>
          </a:solidFill>
          <a:ln/>
        </p:spPr>
        <p:txBody>
          <a:bodyPr/>
          <a:lstStyle/>
          <a:p>
            <a:endParaRPr lang="en-IN" sz="1500"/>
          </a:p>
        </p:txBody>
      </p:sp>
      <p:sp>
        <p:nvSpPr>
          <p:cNvPr id="15" name="Text 12"/>
          <p:cNvSpPr/>
          <p:nvPr/>
        </p:nvSpPr>
        <p:spPr>
          <a:xfrm>
            <a:off x="5194177" y="4977109"/>
            <a:ext cx="6281388" cy="1231106"/>
          </a:xfrm>
          <a:prstGeom prst="rect">
            <a:avLst/>
          </a:prstGeom>
          <a:noFill/>
          <a:ln/>
        </p:spPr>
        <p:txBody>
          <a:bodyPr wrap="square" lIns="0" tIns="0" rIns="0" bIns="0" rtlCol="0" anchor="t">
            <a:spAutoFit/>
          </a:bodyPr>
          <a:lstStyle/>
          <a:p>
            <a:pPr>
              <a:lnSpc>
                <a:spcPts val="2375"/>
              </a:lnSpc>
            </a:pPr>
            <a:r>
              <a:rPr lang="en-US" sz="2000" dirty="0">
                <a:solidFill>
                  <a:srgbClr val="49495A"/>
                </a:solidFill>
                <a:latin typeface="Open Sans" pitchFamily="34" charset="0"/>
                <a:ea typeface="Open Sans" pitchFamily="34" charset="-122"/>
                <a:cs typeface="Open Sans" pitchFamily="34" charset="-120"/>
              </a:rPr>
              <a:t>This study investigates the performance implications of replacing cast iron with carbon steel—a material known for its superior tensile strength, toughness, and fatigue life.</a:t>
            </a:r>
            <a:endParaRPr lang="en-US" sz="2000" dirty="0"/>
          </a:p>
        </p:txBody>
      </p:sp>
      <p:sp>
        <p:nvSpPr>
          <p:cNvPr id="17" name="Rectangle 1">
            <a:extLst>
              <a:ext uri="{FF2B5EF4-FFF2-40B4-BE49-F238E27FC236}">
                <a16:creationId xmlns:a16="http://schemas.microsoft.com/office/drawing/2014/main" id="{F6BD0931-1B0F-B63E-0C89-48EED94DCA13}"/>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4" name="Image 0" descr="preencoded.png">
            <a:extLst>
              <a:ext uri="{FF2B5EF4-FFF2-40B4-BE49-F238E27FC236}">
                <a16:creationId xmlns:a16="http://schemas.microsoft.com/office/drawing/2014/main" id="{A2F636DD-9CE2-C5BF-BCF8-07303A1FF867}"/>
              </a:ext>
            </a:extLst>
          </p:cNvPr>
          <p:cNvPicPr>
            <a:picLocks noChangeAspect="1"/>
          </p:cNvPicPr>
          <p:nvPr/>
        </p:nvPicPr>
        <p:blipFill>
          <a:blip r:embed="rId3"/>
          <a:stretch>
            <a:fillRect/>
          </a:stretch>
        </p:blipFill>
        <p:spPr>
          <a:xfrm>
            <a:off x="0" y="1"/>
            <a:ext cx="4926536" cy="68579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1940B9-B221-5A5A-8DB2-F98080F0DB0B}"/>
              </a:ext>
            </a:extLst>
          </p:cNvPr>
          <p:cNvSpPr>
            <a:spLocks noGrp="1"/>
          </p:cNvSpPr>
          <p:nvPr>
            <p:ph type="title"/>
          </p:nvPr>
        </p:nvSpPr>
        <p:spPr>
          <a:xfrm>
            <a:off x="1484311" y="467833"/>
            <a:ext cx="10018713" cy="964756"/>
          </a:xfrm>
        </p:spPr>
        <p:txBody>
          <a:bodyPr>
            <a:normAutofit fontScale="90000"/>
          </a:bodyPr>
          <a:lstStyle/>
          <a:p>
            <a:r>
              <a:rPr lang="en-US" sz="4000" dirty="0">
                <a:solidFill>
                  <a:srgbClr val="403CCF"/>
                </a:solidFill>
                <a:latin typeface="Libre Baskerville" pitchFamily="34" charset="0"/>
                <a:ea typeface="Libre Baskerville" pitchFamily="34" charset="-122"/>
                <a:cs typeface="Libre Baskerville" pitchFamily="34" charset="-120"/>
              </a:rPr>
              <a:t>Connecting rod specifications</a:t>
            </a:r>
            <a:br>
              <a:rPr lang="en-US" sz="4000" dirty="0"/>
            </a:br>
            <a:endParaRPr lang="en-IN" dirty="0"/>
          </a:p>
        </p:txBody>
      </p:sp>
      <p:sp>
        <p:nvSpPr>
          <p:cNvPr id="7" name="TextBox 6">
            <a:extLst>
              <a:ext uri="{FF2B5EF4-FFF2-40B4-BE49-F238E27FC236}">
                <a16:creationId xmlns:a16="http://schemas.microsoft.com/office/drawing/2014/main" id="{01CCEAB6-AEDA-91B0-54C0-3A01309E1E40}"/>
              </a:ext>
            </a:extLst>
          </p:cNvPr>
          <p:cNvSpPr txBox="1"/>
          <p:nvPr/>
        </p:nvSpPr>
        <p:spPr>
          <a:xfrm>
            <a:off x="1189704" y="1432589"/>
            <a:ext cx="6705600" cy="3307957"/>
          </a:xfrm>
          <a:prstGeom prst="rect">
            <a:avLst/>
          </a:prstGeom>
          <a:noFill/>
        </p:spPr>
        <p:txBody>
          <a:bodyPr wrap="square" rtlCol="0">
            <a:spAutoFit/>
          </a:bodyPr>
          <a:lstStyle/>
          <a:p>
            <a:pPr defTabSz="914400">
              <a:lnSpc>
                <a:spcPts val="2750"/>
              </a:lnSpc>
            </a:pPr>
            <a:r>
              <a:rPr lang="en-US" sz="2200" dirty="0">
                <a:solidFill>
                  <a:srgbClr val="49495A"/>
                </a:solidFill>
                <a:latin typeface="Libre Baskerville" pitchFamily="34" charset="0"/>
              </a:rPr>
              <a:t>Crankshaft radius 48.5 mm </a:t>
            </a:r>
          </a:p>
          <a:p>
            <a:pPr defTabSz="914400">
              <a:lnSpc>
                <a:spcPts val="2750"/>
              </a:lnSpc>
            </a:pPr>
            <a:r>
              <a:rPr lang="en-US" sz="2200" dirty="0">
                <a:solidFill>
                  <a:srgbClr val="49495A"/>
                </a:solidFill>
                <a:latin typeface="Libre Baskerville" pitchFamily="34" charset="0"/>
              </a:rPr>
              <a:t>Connecting rod length 141.014 mm </a:t>
            </a:r>
          </a:p>
          <a:p>
            <a:pPr defTabSz="914400">
              <a:lnSpc>
                <a:spcPts val="2750"/>
              </a:lnSpc>
            </a:pPr>
            <a:r>
              <a:rPr lang="en-US" sz="2200" dirty="0">
                <a:solidFill>
                  <a:srgbClr val="49495A"/>
                </a:solidFill>
                <a:latin typeface="Libre Baskerville" pitchFamily="34" charset="0"/>
              </a:rPr>
              <a:t>Piston diameter 86 mm </a:t>
            </a:r>
          </a:p>
          <a:p>
            <a:pPr defTabSz="914400">
              <a:lnSpc>
                <a:spcPts val="2750"/>
              </a:lnSpc>
            </a:pPr>
            <a:r>
              <a:rPr lang="en-US" sz="2200" dirty="0">
                <a:solidFill>
                  <a:srgbClr val="49495A"/>
                </a:solidFill>
                <a:latin typeface="Libre Baskerville" pitchFamily="34" charset="0"/>
              </a:rPr>
              <a:t>Mass of the piston assembly 0.434  kg </a:t>
            </a:r>
          </a:p>
          <a:p>
            <a:pPr defTabSz="914400">
              <a:lnSpc>
                <a:spcPts val="2750"/>
              </a:lnSpc>
            </a:pPr>
            <a:r>
              <a:rPr lang="en-US" sz="2200" dirty="0">
                <a:solidFill>
                  <a:srgbClr val="49495A"/>
                </a:solidFill>
                <a:latin typeface="Libre Baskerville" pitchFamily="34" charset="0"/>
              </a:rPr>
              <a:t>Mass of the connecting rod 0.439 kg </a:t>
            </a:r>
          </a:p>
          <a:p>
            <a:pPr defTabSz="914400">
              <a:lnSpc>
                <a:spcPts val="2750"/>
              </a:lnSpc>
            </a:pPr>
            <a:r>
              <a:rPr lang="en-US" sz="2200" dirty="0">
                <a:solidFill>
                  <a:srgbClr val="49495A"/>
                </a:solidFill>
                <a:latin typeface="Libre Baskerville" pitchFamily="34" charset="0"/>
              </a:rPr>
              <a:t>Izz about the center of gravity 0.00144 kg m2    </a:t>
            </a:r>
          </a:p>
          <a:p>
            <a:pPr defTabSz="914400">
              <a:lnSpc>
                <a:spcPts val="2750"/>
              </a:lnSpc>
            </a:pPr>
            <a:r>
              <a:rPr lang="en-US" sz="2200" dirty="0">
                <a:solidFill>
                  <a:srgbClr val="49495A"/>
                </a:solidFill>
                <a:latin typeface="Libre Baskerville" pitchFamily="34" charset="0"/>
              </a:rPr>
              <a:t>Distance of C.G. from crank end center 36.44 mm </a:t>
            </a:r>
          </a:p>
          <a:p>
            <a:pPr defTabSz="914400">
              <a:lnSpc>
                <a:spcPts val="2750"/>
              </a:lnSpc>
            </a:pPr>
            <a:endParaRPr lang="en-IN" sz="2200" dirty="0">
              <a:solidFill>
                <a:srgbClr val="49495A"/>
              </a:solidFill>
              <a:latin typeface="Libre Baskerville" pitchFamily="34" charset="0"/>
            </a:endParaRPr>
          </a:p>
        </p:txBody>
      </p:sp>
      <p:pic>
        <p:nvPicPr>
          <p:cNvPr id="6" name="Picture 5">
            <a:extLst>
              <a:ext uri="{FF2B5EF4-FFF2-40B4-BE49-F238E27FC236}">
                <a16:creationId xmlns:a16="http://schemas.microsoft.com/office/drawing/2014/main" id="{0DB97316-4BE2-C8FE-16BD-5F715AEAC807}"/>
              </a:ext>
            </a:extLst>
          </p:cNvPr>
          <p:cNvPicPr>
            <a:picLocks noChangeAspect="1"/>
          </p:cNvPicPr>
          <p:nvPr/>
        </p:nvPicPr>
        <p:blipFill>
          <a:blip r:embed="rId2"/>
          <a:stretch>
            <a:fillRect/>
          </a:stretch>
        </p:blipFill>
        <p:spPr>
          <a:xfrm>
            <a:off x="8062452" y="1085222"/>
            <a:ext cx="4129548" cy="5772778"/>
          </a:xfrm>
          <a:prstGeom prst="rect">
            <a:avLst/>
          </a:prstGeom>
        </p:spPr>
      </p:pic>
    </p:spTree>
    <p:extLst>
      <p:ext uri="{BB962C8B-B14F-4D97-AF65-F5344CB8AC3E}">
        <p14:creationId xmlns:p14="http://schemas.microsoft.com/office/powerpoint/2010/main" val="2376410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40C999-68F2-8F9D-4401-B1E79672B11B}"/>
              </a:ext>
            </a:extLst>
          </p:cNvPr>
          <p:cNvSpPr txBox="1"/>
          <p:nvPr/>
        </p:nvSpPr>
        <p:spPr>
          <a:xfrm>
            <a:off x="3657600" y="267900"/>
            <a:ext cx="5516880" cy="646331"/>
          </a:xfrm>
          <a:prstGeom prst="rect">
            <a:avLst/>
          </a:prstGeom>
          <a:noFill/>
        </p:spPr>
        <p:txBody>
          <a:bodyPr wrap="square" rtlCol="0">
            <a:spAutoFit/>
          </a:bodyPr>
          <a:lstStyle/>
          <a:p>
            <a:r>
              <a:rPr lang="en-IN" sz="3600" dirty="0">
                <a:ln w="3175" cmpd="sng">
                  <a:noFill/>
                </a:ln>
                <a:solidFill>
                  <a:srgbClr val="403CCF"/>
                </a:solidFill>
                <a:latin typeface="Libre Baskerville" pitchFamily="34" charset="0"/>
              </a:rPr>
              <a:t>Material assignment</a:t>
            </a:r>
          </a:p>
        </p:txBody>
      </p:sp>
      <p:graphicFrame>
        <p:nvGraphicFramePr>
          <p:cNvPr id="6" name="Table 5">
            <a:extLst>
              <a:ext uri="{FF2B5EF4-FFF2-40B4-BE49-F238E27FC236}">
                <a16:creationId xmlns:a16="http://schemas.microsoft.com/office/drawing/2014/main" id="{DCF65241-1029-7E6A-B7E7-7CB8EC2F7946}"/>
              </a:ext>
            </a:extLst>
          </p:cNvPr>
          <p:cNvGraphicFramePr>
            <a:graphicFrameLocks noGrp="1"/>
          </p:cNvGraphicFramePr>
          <p:nvPr>
            <p:extLst>
              <p:ext uri="{D42A27DB-BD31-4B8C-83A1-F6EECF244321}">
                <p14:modId xmlns:p14="http://schemas.microsoft.com/office/powerpoint/2010/main" val="3408249629"/>
              </p:ext>
            </p:extLst>
          </p:nvPr>
        </p:nvGraphicFramePr>
        <p:xfrm>
          <a:off x="152400" y="1681872"/>
          <a:ext cx="6969761" cy="5153260"/>
        </p:xfrm>
        <a:graphic>
          <a:graphicData uri="http://schemas.openxmlformats.org/drawingml/2006/table">
            <a:tbl>
              <a:tblPr firstRow="1" bandRow="1">
                <a:tableStyleId>{D7AC3CCA-C797-4891-BE02-D94E43425B78}</a:tableStyleId>
              </a:tblPr>
              <a:tblGrid>
                <a:gridCol w="1902542">
                  <a:extLst>
                    <a:ext uri="{9D8B030D-6E8A-4147-A177-3AD203B41FA5}">
                      <a16:colId xmlns:a16="http://schemas.microsoft.com/office/drawing/2014/main" val="2821118530"/>
                    </a:ext>
                  </a:extLst>
                </a:gridCol>
                <a:gridCol w="2415112">
                  <a:extLst>
                    <a:ext uri="{9D8B030D-6E8A-4147-A177-3AD203B41FA5}">
                      <a16:colId xmlns:a16="http://schemas.microsoft.com/office/drawing/2014/main" val="1599364218"/>
                    </a:ext>
                  </a:extLst>
                </a:gridCol>
                <a:gridCol w="2652107">
                  <a:extLst>
                    <a:ext uri="{9D8B030D-6E8A-4147-A177-3AD203B41FA5}">
                      <a16:colId xmlns:a16="http://schemas.microsoft.com/office/drawing/2014/main" val="704274923"/>
                    </a:ext>
                  </a:extLst>
                </a:gridCol>
              </a:tblGrid>
              <a:tr h="810854">
                <a:tc>
                  <a:txBody>
                    <a:bodyPr/>
                    <a:lstStyle/>
                    <a:p>
                      <a:r>
                        <a:rPr lang="en-IN" sz="2400" baseline="0" dirty="0">
                          <a:latin typeface="Open Sans" panose="020B0606030504020204" pitchFamily="34" charset="0"/>
                        </a:rPr>
                        <a:t>Parameter</a:t>
                      </a:r>
                    </a:p>
                  </a:txBody>
                  <a:tcPr/>
                </a:tc>
                <a:tc>
                  <a:txBody>
                    <a:bodyPr/>
                    <a:lstStyle/>
                    <a:p>
                      <a:r>
                        <a:rPr lang="en-IN" sz="2400" dirty="0"/>
                        <a:t>Carbon steel AISI 1045</a:t>
                      </a:r>
                    </a:p>
                  </a:txBody>
                  <a:tcPr/>
                </a:tc>
                <a:tc>
                  <a:txBody>
                    <a:bodyPr/>
                    <a:lstStyle/>
                    <a:p>
                      <a:r>
                        <a:rPr lang="en-IN" sz="2400" dirty="0"/>
                        <a:t>Cast Iron values</a:t>
                      </a:r>
                    </a:p>
                  </a:txBody>
                  <a:tcPr/>
                </a:tc>
                <a:extLst>
                  <a:ext uri="{0D108BD9-81ED-4DB2-BD59-A6C34878D82A}">
                    <a16:rowId xmlns:a16="http://schemas.microsoft.com/office/drawing/2014/main" val="1680895818"/>
                  </a:ext>
                </a:extLst>
              </a:tr>
              <a:tr h="630664">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Composition</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0.4 % C ,98.5% Fe, 0.6% Mn, 0.09% S,P </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2-2.65% c,0.90% S,0.25%Mn,97.2 %Fe</a:t>
                      </a:r>
                    </a:p>
                  </a:txBody>
                  <a:tcPr/>
                </a:tc>
                <a:extLst>
                  <a:ext uri="{0D108BD9-81ED-4DB2-BD59-A6C34878D82A}">
                    <a16:rowId xmlns:a16="http://schemas.microsoft.com/office/drawing/2014/main" val="1901514243"/>
                  </a:ext>
                </a:extLst>
              </a:tr>
              <a:tr h="439224">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Density</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7.88 g/cc</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7.1 g/cc</a:t>
                      </a:r>
                    </a:p>
                  </a:txBody>
                  <a:tcPr/>
                </a:tc>
                <a:extLst>
                  <a:ext uri="{0D108BD9-81ED-4DB2-BD59-A6C34878D82A}">
                    <a16:rowId xmlns:a16="http://schemas.microsoft.com/office/drawing/2014/main" val="1099553512"/>
                  </a:ext>
                </a:extLst>
              </a:tr>
              <a:tr h="900948">
                <a:tc>
                  <a:txBody>
                    <a:bodyPr/>
                    <a:lstStyle/>
                    <a:p>
                      <a:r>
                        <a:rPr lang="en-IN" dirty="0"/>
                        <a:t>Tensile strength, Ultimate</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565 MPa</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200 </a:t>
                      </a:r>
                      <a:r>
                        <a:rPr lang="en-IN" dirty="0" err="1">
                          <a:latin typeface="Open Sans" panose="020B0606030504020204" pitchFamily="34" charset="0"/>
                          <a:ea typeface="Open Sans" panose="020B0606030504020204" pitchFamily="34" charset="0"/>
                          <a:cs typeface="Open Sans" panose="020B0606030504020204" pitchFamily="34" charset="0"/>
                        </a:rPr>
                        <a:t>Mpa</a:t>
                      </a:r>
                      <a:endParaRPr lang="en-IN"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593351759"/>
                  </a:ext>
                </a:extLst>
              </a:tr>
              <a:tr h="630664">
                <a:tc>
                  <a:txBody>
                    <a:bodyPr/>
                    <a:lstStyle/>
                    <a:p>
                      <a:r>
                        <a:rPr lang="en-IN" dirty="0"/>
                        <a:t>Tensile strength, Yield</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310 MPa</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130 MPa</a:t>
                      </a:r>
                    </a:p>
                  </a:txBody>
                  <a:tcPr/>
                </a:tc>
                <a:extLst>
                  <a:ext uri="{0D108BD9-81ED-4DB2-BD59-A6C34878D82A}">
                    <a16:rowId xmlns:a16="http://schemas.microsoft.com/office/drawing/2014/main" val="1883838920"/>
                  </a:ext>
                </a:extLst>
              </a:tr>
              <a:tr h="630664">
                <a:tc>
                  <a:txBody>
                    <a:bodyPr/>
                    <a:lstStyle/>
                    <a:p>
                      <a:r>
                        <a:rPr lang="en-IN" dirty="0"/>
                        <a:t>Modulus of elasticity</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200GPa</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100-130GPa</a:t>
                      </a:r>
                    </a:p>
                  </a:txBody>
                  <a:tcPr/>
                </a:tc>
                <a:extLst>
                  <a:ext uri="{0D108BD9-81ED-4DB2-BD59-A6C34878D82A}">
                    <a16:rowId xmlns:a16="http://schemas.microsoft.com/office/drawing/2014/main" val="632276384"/>
                  </a:ext>
                </a:extLst>
              </a:tr>
              <a:tr h="630664">
                <a:tc>
                  <a:txBody>
                    <a:bodyPr/>
                    <a:lstStyle/>
                    <a:p>
                      <a:r>
                        <a:rPr lang="en-IN" dirty="0"/>
                        <a:t>Endurance limit</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270-300 MPa</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70-140 MPa</a:t>
                      </a:r>
                    </a:p>
                  </a:txBody>
                  <a:tcPr/>
                </a:tc>
                <a:extLst>
                  <a:ext uri="{0D108BD9-81ED-4DB2-BD59-A6C34878D82A}">
                    <a16:rowId xmlns:a16="http://schemas.microsoft.com/office/drawing/2014/main" val="2139484105"/>
                  </a:ext>
                </a:extLst>
              </a:tr>
              <a:tr h="439224">
                <a:tc>
                  <a:txBody>
                    <a:bodyPr/>
                    <a:lstStyle/>
                    <a:p>
                      <a:r>
                        <a:rPr lang="en-IN" dirty="0" err="1"/>
                        <a:t>Poissons</a:t>
                      </a:r>
                      <a:r>
                        <a:rPr lang="en-IN" dirty="0"/>
                        <a:t> Ratio</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0.29</a:t>
                      </a:r>
                    </a:p>
                  </a:txBody>
                  <a:tcPr/>
                </a:tc>
                <a:tc>
                  <a:txBody>
                    <a:bodyPr/>
                    <a:lstStyle/>
                    <a:p>
                      <a:r>
                        <a:rPr lang="en-IN" dirty="0">
                          <a:latin typeface="Open Sans" panose="020B0606030504020204" pitchFamily="34" charset="0"/>
                          <a:ea typeface="Open Sans" panose="020B0606030504020204" pitchFamily="34" charset="0"/>
                          <a:cs typeface="Open Sans" panose="020B0606030504020204" pitchFamily="34" charset="0"/>
                        </a:rPr>
                        <a:t>0.21</a:t>
                      </a:r>
                    </a:p>
                  </a:txBody>
                  <a:tcPr/>
                </a:tc>
                <a:extLst>
                  <a:ext uri="{0D108BD9-81ED-4DB2-BD59-A6C34878D82A}">
                    <a16:rowId xmlns:a16="http://schemas.microsoft.com/office/drawing/2014/main" val="3099089406"/>
                  </a:ext>
                </a:extLst>
              </a:tr>
            </a:tbl>
          </a:graphicData>
        </a:graphic>
      </p:graphicFrame>
      <p:sp>
        <p:nvSpPr>
          <p:cNvPr id="7" name="TextBox 6">
            <a:extLst>
              <a:ext uri="{FF2B5EF4-FFF2-40B4-BE49-F238E27FC236}">
                <a16:creationId xmlns:a16="http://schemas.microsoft.com/office/drawing/2014/main" id="{161038B9-5FB2-E9F6-EECB-C331077B515A}"/>
              </a:ext>
            </a:extLst>
          </p:cNvPr>
          <p:cNvSpPr txBox="1"/>
          <p:nvPr/>
        </p:nvSpPr>
        <p:spPr>
          <a:xfrm>
            <a:off x="4488380" y="994622"/>
            <a:ext cx="3215239" cy="461665"/>
          </a:xfrm>
          <a:prstGeom prst="rect">
            <a:avLst/>
          </a:prstGeom>
          <a:noFill/>
        </p:spPr>
        <p:txBody>
          <a:bodyPr wrap="none" rtlCol="0">
            <a:spAutoFit/>
          </a:bodyPr>
          <a:lstStyle/>
          <a:p>
            <a:r>
              <a:rPr lang="en-IN" sz="2400" u="sng" dirty="0"/>
              <a:t>Carbon steel AISI -</a:t>
            </a:r>
            <a:r>
              <a:rPr lang="en-IN" sz="2400" u="sng" dirty="0">
                <a:latin typeface="Open Sans" panose="020B0606030504020204" pitchFamily="34" charset="0"/>
                <a:ea typeface="Open Sans" panose="020B0606030504020204" pitchFamily="34" charset="0"/>
                <a:cs typeface="Open Sans" panose="020B0606030504020204" pitchFamily="34" charset="0"/>
              </a:rPr>
              <a:t>1045</a:t>
            </a:r>
            <a:endParaRPr lang="en-IN" sz="2400" u="sng" dirty="0"/>
          </a:p>
        </p:txBody>
      </p:sp>
      <p:graphicFrame>
        <p:nvGraphicFramePr>
          <p:cNvPr id="8" name="Chart 7">
            <a:extLst>
              <a:ext uri="{FF2B5EF4-FFF2-40B4-BE49-F238E27FC236}">
                <a16:creationId xmlns:a16="http://schemas.microsoft.com/office/drawing/2014/main" id="{E356B16F-697B-C7DF-8666-A9A338BDAAC4}"/>
              </a:ext>
            </a:extLst>
          </p:cNvPr>
          <p:cNvGraphicFramePr>
            <a:graphicFrameLocks/>
          </p:cNvGraphicFramePr>
          <p:nvPr>
            <p:extLst>
              <p:ext uri="{D42A27DB-BD31-4B8C-83A1-F6EECF244321}">
                <p14:modId xmlns:p14="http://schemas.microsoft.com/office/powerpoint/2010/main" val="3044544773"/>
              </p:ext>
            </p:extLst>
          </p:nvPr>
        </p:nvGraphicFramePr>
        <p:xfrm>
          <a:off x="8026400" y="1998345"/>
          <a:ext cx="4013200" cy="267843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75A5F49F-7EEA-729E-EF8E-6D4DD5CC96D7}"/>
              </a:ext>
            </a:extLst>
          </p:cNvPr>
          <p:cNvSpPr txBox="1"/>
          <p:nvPr/>
        </p:nvSpPr>
        <p:spPr>
          <a:xfrm>
            <a:off x="8514080" y="4886960"/>
            <a:ext cx="3725700" cy="830997"/>
          </a:xfrm>
          <a:prstGeom prst="rect">
            <a:avLst/>
          </a:prstGeom>
          <a:noFill/>
        </p:spPr>
        <p:txBody>
          <a:bodyPr wrap="none" rtlCol="0">
            <a:spAutoFit/>
          </a:bodyPr>
          <a:lstStyle/>
          <a:p>
            <a:r>
              <a:rPr lang="en-IN" sz="2400" u="sng" dirty="0">
                <a:latin typeface="Open Sans" panose="020B0606030504020204" pitchFamily="34" charset="0"/>
                <a:ea typeface="Open Sans" panose="020B0606030504020204" pitchFamily="34" charset="0"/>
                <a:cs typeface="Open Sans" panose="020B0606030504020204" pitchFamily="34" charset="0"/>
              </a:rPr>
              <a:t>Stress vs strain curve </a:t>
            </a:r>
          </a:p>
          <a:p>
            <a:r>
              <a:rPr lang="en-IN" sz="2400" u="sng" dirty="0">
                <a:latin typeface="Open Sans" panose="020B0606030504020204" pitchFamily="34" charset="0"/>
                <a:ea typeface="Open Sans" panose="020B0606030504020204" pitchFamily="34" charset="0"/>
                <a:cs typeface="Open Sans" panose="020B0606030504020204" pitchFamily="34" charset="0"/>
              </a:rPr>
              <a:t>of carbon steel AISI 1045</a:t>
            </a:r>
          </a:p>
        </p:txBody>
      </p:sp>
    </p:spTree>
    <p:extLst>
      <p:ext uri="{BB962C8B-B14F-4D97-AF65-F5344CB8AC3E}">
        <p14:creationId xmlns:p14="http://schemas.microsoft.com/office/powerpoint/2010/main" val="2546677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5B1139-D313-D89F-2DBD-92135CAD2FAB}"/>
              </a:ext>
            </a:extLst>
          </p:cNvPr>
          <p:cNvSpPr txBox="1"/>
          <p:nvPr/>
        </p:nvSpPr>
        <p:spPr>
          <a:xfrm>
            <a:off x="1534160" y="655321"/>
            <a:ext cx="2895600" cy="461665"/>
          </a:xfrm>
          <a:prstGeom prst="rect">
            <a:avLst/>
          </a:prstGeom>
          <a:noFill/>
        </p:spPr>
        <p:txBody>
          <a:bodyPr wrap="square" rtlCol="0">
            <a:spAutoFit/>
          </a:bodyPr>
          <a:lstStyle/>
          <a:p>
            <a:r>
              <a:rPr lang="en-IN" sz="2400" u="sng" dirty="0">
                <a:ln w="3175" cmpd="sng">
                  <a:noFill/>
                </a:ln>
                <a:solidFill>
                  <a:srgbClr val="403CCF"/>
                </a:solidFill>
                <a:latin typeface="Libre Baskerville" pitchFamily="34" charset="0"/>
              </a:rPr>
              <a:t>Calculations :- </a:t>
            </a:r>
          </a:p>
        </p:txBody>
      </p:sp>
      <p:sp>
        <p:nvSpPr>
          <p:cNvPr id="3" name="TextBox 2">
            <a:extLst>
              <a:ext uri="{FF2B5EF4-FFF2-40B4-BE49-F238E27FC236}">
                <a16:creationId xmlns:a16="http://schemas.microsoft.com/office/drawing/2014/main" id="{E9A2FA8F-50B9-8A76-532D-4A1B2204A864}"/>
              </a:ext>
            </a:extLst>
          </p:cNvPr>
          <p:cNvSpPr txBox="1"/>
          <p:nvPr/>
        </p:nvSpPr>
        <p:spPr>
          <a:xfrm>
            <a:off x="828040" y="1249680"/>
            <a:ext cx="10535920" cy="5078313"/>
          </a:xfrm>
          <a:prstGeom prst="rect">
            <a:avLst/>
          </a:prstGeom>
          <a:noFill/>
        </p:spPr>
        <p:txBody>
          <a:bodyPr wrap="square" rtlCol="0">
            <a:spAutoFit/>
          </a:bodyPr>
          <a:lstStyle/>
          <a:p>
            <a:pPr>
              <a:lnSpc>
                <a:spcPct val="150000"/>
              </a:lnSpc>
            </a:pPr>
            <a:r>
              <a:rPr lang="en-IN" u="sng" dirty="0">
                <a:latin typeface="Open Sans" panose="020B0606030504020204" pitchFamily="34" charset="0"/>
                <a:ea typeface="Open Sans" panose="020B0606030504020204" pitchFamily="34" charset="0"/>
                <a:cs typeface="Open Sans" panose="020B0606030504020204" pitchFamily="34" charset="0"/>
              </a:rPr>
              <a:t>Pressure calculation for 150 cc engine</a:t>
            </a:r>
          </a:p>
          <a:p>
            <a:pPr>
              <a:lnSpc>
                <a:spcPct val="150000"/>
              </a:lnSpc>
            </a:pPr>
            <a:r>
              <a:rPr lang="en-IN" dirty="0">
                <a:latin typeface="Open Sans" panose="020B0606030504020204" pitchFamily="34" charset="0"/>
                <a:ea typeface="Open Sans" panose="020B0606030504020204" pitchFamily="34" charset="0"/>
                <a:cs typeface="Open Sans" panose="020B0606030504020204" pitchFamily="34" charset="0"/>
              </a:rPr>
              <a:t>Engine type – Air cooled 4 stroke engine</a:t>
            </a:r>
          </a:p>
          <a:p>
            <a:r>
              <a:rPr lang="en-IN" dirty="0">
                <a:latin typeface="Open Sans" panose="020B0606030504020204" pitchFamily="34" charset="0"/>
                <a:ea typeface="Open Sans" panose="020B0606030504020204" pitchFamily="34" charset="0"/>
                <a:cs typeface="Open Sans" panose="020B0606030504020204" pitchFamily="34" charset="0"/>
              </a:rPr>
              <a:t>Bore * stroke = 57*58.6</a:t>
            </a:r>
          </a:p>
          <a:p>
            <a:r>
              <a:rPr lang="en-IN" dirty="0">
                <a:latin typeface="Open Sans" panose="020B0606030504020204" pitchFamily="34" charset="0"/>
                <a:ea typeface="Open Sans" panose="020B0606030504020204" pitchFamily="34" charset="0"/>
                <a:cs typeface="Open Sans" panose="020B0606030504020204" pitchFamily="34" charset="0"/>
              </a:rPr>
              <a:t>Displacement = 149.5cc</a:t>
            </a:r>
          </a:p>
          <a:p>
            <a:r>
              <a:rPr lang="en-IN" dirty="0">
                <a:latin typeface="Open Sans" panose="020B0606030504020204" pitchFamily="34" charset="0"/>
                <a:ea typeface="Open Sans" panose="020B0606030504020204" pitchFamily="34" charset="0"/>
                <a:cs typeface="Open Sans" panose="020B0606030504020204" pitchFamily="34" charset="0"/>
              </a:rPr>
              <a:t>Max. Power= 13.8 bhp at 8500rpm</a:t>
            </a:r>
          </a:p>
          <a:p>
            <a:r>
              <a:rPr lang="en-IN" dirty="0">
                <a:latin typeface="Open Sans" panose="020B0606030504020204" pitchFamily="34" charset="0"/>
                <a:ea typeface="Open Sans" panose="020B0606030504020204" pitchFamily="34" charset="0"/>
                <a:cs typeface="Open Sans" panose="020B0606030504020204" pitchFamily="34" charset="0"/>
              </a:rPr>
              <a:t>Max. Torque= 13.4 Nm at6000rpm</a:t>
            </a:r>
          </a:p>
          <a:p>
            <a:r>
              <a:rPr lang="en-IN" dirty="0">
                <a:latin typeface="Open Sans" panose="020B0606030504020204" pitchFamily="34" charset="0"/>
                <a:ea typeface="Open Sans" panose="020B0606030504020204" pitchFamily="34" charset="0"/>
                <a:cs typeface="Open Sans" panose="020B0606030504020204" pitchFamily="34" charset="0"/>
              </a:rPr>
              <a:t>Compression ratio = 9.35/1</a:t>
            </a:r>
          </a:p>
          <a:p>
            <a:r>
              <a:rPr lang="en-IN" dirty="0">
                <a:latin typeface="Open Sans" panose="020B0606030504020204" pitchFamily="34" charset="0"/>
                <a:ea typeface="Open Sans" panose="020B0606030504020204" pitchFamily="34" charset="0"/>
                <a:cs typeface="Open Sans" panose="020B0606030504020204" pitchFamily="34" charset="0"/>
              </a:rPr>
              <a:t>Density of Petrol= 737.22 kg/m3</a:t>
            </a:r>
          </a:p>
          <a:p>
            <a:r>
              <a:rPr lang="en-IN" dirty="0">
                <a:latin typeface="Open Sans" panose="020B0606030504020204" pitchFamily="34" charset="0"/>
                <a:ea typeface="Open Sans" panose="020B0606030504020204" pitchFamily="34" charset="0"/>
                <a:cs typeface="Open Sans" panose="020B0606030504020204" pitchFamily="34" charset="0"/>
              </a:rPr>
              <a:t>Temperature = 288.85 k</a:t>
            </a:r>
          </a:p>
          <a:p>
            <a:r>
              <a:rPr lang="en-US" dirty="0">
                <a:latin typeface="Open Sans" panose="020B0606030504020204" pitchFamily="34" charset="0"/>
                <a:ea typeface="Open Sans" panose="020B0606030504020204" pitchFamily="34" charset="0"/>
                <a:cs typeface="Open Sans" panose="020B0606030504020204" pitchFamily="34" charset="0"/>
              </a:rPr>
              <a:t>Mass = Density × Volume  = 0.11Kg </a:t>
            </a:r>
          </a:p>
          <a:p>
            <a:r>
              <a:rPr lang="en-US" dirty="0">
                <a:latin typeface="Open Sans" panose="020B0606030504020204" pitchFamily="34" charset="0"/>
                <a:ea typeface="Open Sans" panose="020B0606030504020204" pitchFamily="34" charset="0"/>
                <a:cs typeface="Open Sans" panose="020B0606030504020204" pitchFamily="34" charset="0"/>
              </a:rPr>
              <a:t>Molecular Weight of Petrol= 114.228 g/mole</a:t>
            </a:r>
          </a:p>
          <a:p>
            <a:endParaRPr lang="en-US" dirty="0">
              <a:latin typeface="Open Sans" panose="020B0606030504020204" pitchFamily="34" charset="0"/>
              <a:ea typeface="Open Sans" panose="020B0606030504020204" pitchFamily="34" charset="0"/>
              <a:cs typeface="Open Sans" panose="020B0606030504020204" pitchFamily="34" charset="0"/>
            </a:endParaRPr>
          </a:p>
          <a:p>
            <a:r>
              <a:rPr lang="en-US" dirty="0">
                <a:latin typeface="Open Sans" panose="020B0606030504020204" pitchFamily="34" charset="0"/>
                <a:ea typeface="Open Sans" panose="020B0606030504020204" pitchFamily="34" charset="0"/>
                <a:cs typeface="Open Sans" panose="020B0606030504020204" pitchFamily="34" charset="0"/>
              </a:rPr>
              <a:t>Forces calculation </a:t>
            </a:r>
          </a:p>
          <a:p>
            <a:r>
              <a:rPr lang="en-US" dirty="0" err="1">
                <a:latin typeface="Open Sans" panose="020B0606030504020204" pitchFamily="34" charset="0"/>
                <a:ea typeface="Open Sans" panose="020B0606030504020204" pitchFamily="34" charset="0"/>
                <a:cs typeface="Open Sans" panose="020B0606030504020204" pitchFamily="34" charset="0"/>
              </a:rPr>
              <a:t>i</a:t>
            </a:r>
            <a:r>
              <a:rPr lang="en-US" dirty="0">
                <a:latin typeface="Open Sans" panose="020B0606030504020204" pitchFamily="34" charset="0"/>
                <a:ea typeface="Open Sans" panose="020B0606030504020204" pitchFamily="34" charset="0"/>
                <a:cs typeface="Open Sans" panose="020B0606030504020204" pitchFamily="34" charset="0"/>
              </a:rPr>
              <a:t>). Force due to gas pressure </a:t>
            </a:r>
          </a:p>
          <a:p>
            <a:r>
              <a:rPr lang="en-US" dirty="0">
                <a:latin typeface="Open Sans" panose="020B0606030504020204" pitchFamily="34" charset="0"/>
                <a:ea typeface="Open Sans" panose="020B0606030504020204" pitchFamily="34" charset="0"/>
                <a:cs typeface="Open Sans" panose="020B0606030504020204" pitchFamily="34" charset="0"/>
              </a:rPr>
              <a:t>Maximum force due to gas pressure,  </a:t>
            </a:r>
          </a:p>
          <a:p>
            <a:r>
              <a:rPr lang="en-US" dirty="0">
                <a:latin typeface="Open Sans" panose="020B0606030504020204" pitchFamily="34" charset="0"/>
                <a:ea typeface="Open Sans" panose="020B0606030504020204" pitchFamily="34" charset="0"/>
                <a:cs typeface="Open Sans" panose="020B0606030504020204" pitchFamily="34" charset="0"/>
              </a:rPr>
              <a:t>                Fa = (π x d2 x Pe) / 4</a:t>
            </a:r>
          </a:p>
          <a:p>
            <a:r>
              <a:rPr lang="pt-BR" dirty="0">
                <a:latin typeface="Open Sans" panose="020B0606030504020204" pitchFamily="34" charset="0"/>
                <a:ea typeface="Open Sans" panose="020B0606030504020204" pitchFamily="34" charset="0"/>
                <a:cs typeface="Open Sans" panose="020B0606030504020204" pitchFamily="34" charset="0"/>
              </a:rPr>
              <a:t> = (3.14 x 1002 x 3.15) / 4 = 24,740N</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63875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B68975-B76F-4BB9-DCDD-4024B89BA185}"/>
              </a:ext>
            </a:extLst>
          </p:cNvPr>
          <p:cNvSpPr txBox="1"/>
          <p:nvPr/>
        </p:nvSpPr>
        <p:spPr>
          <a:xfrm>
            <a:off x="833120" y="264160"/>
            <a:ext cx="10850880" cy="5355312"/>
          </a:xfrm>
          <a:prstGeom prst="rect">
            <a:avLst/>
          </a:prstGeom>
          <a:noFill/>
        </p:spPr>
        <p:txBody>
          <a:bodyPr wrap="square" rtlCol="0">
            <a:spAutoFit/>
          </a:bodyPr>
          <a:lstStyle/>
          <a:p>
            <a:r>
              <a:rPr lang="en-IN" dirty="0">
                <a:latin typeface="Open Sans" panose="020B0606030504020204" pitchFamily="34" charset="0"/>
                <a:ea typeface="Open Sans" panose="020B0606030504020204" pitchFamily="34" charset="0"/>
                <a:cs typeface="Open Sans" panose="020B0606030504020204" pitchFamily="34" charset="0"/>
              </a:rPr>
              <a:t>ii).</a:t>
            </a:r>
            <a:r>
              <a:rPr lang="pt-BR" dirty="0">
                <a:latin typeface="Open Sans" panose="020B0606030504020204" pitchFamily="34" charset="0"/>
                <a:ea typeface="Open Sans" panose="020B0606030504020204" pitchFamily="34" charset="0"/>
                <a:cs typeface="Open Sans" panose="020B0606030504020204" pitchFamily="34" charset="0"/>
              </a:rPr>
              <a:t> Inertia force due to reciprocating mass </a:t>
            </a:r>
          </a:p>
          <a:p>
            <a:r>
              <a:rPr lang="pt-BR" dirty="0">
                <a:latin typeface="Open Sans" panose="020B0606030504020204" pitchFamily="34" charset="0"/>
                <a:ea typeface="Open Sans" panose="020B0606030504020204" pitchFamily="34" charset="0"/>
                <a:cs typeface="Open Sans" panose="020B0606030504020204" pitchFamily="34" charset="0"/>
              </a:rPr>
              <a:t>Fi = M x ω2  x r x (cosӨ + (r x cosӨ) / l) </a:t>
            </a:r>
          </a:p>
          <a:p>
            <a:r>
              <a:rPr lang="pt-BR" dirty="0">
                <a:latin typeface="Open Sans" panose="020B0606030504020204" pitchFamily="34" charset="0"/>
                <a:ea typeface="Open Sans" panose="020B0606030504020204" pitchFamily="34" charset="0"/>
                <a:cs typeface="Open Sans" panose="020B0606030504020204" pitchFamily="34" charset="0"/>
              </a:rPr>
              <a:t>= 2.25 x (2 x 3.14 x 1800)2 x 22 x (cos0 + (22 x cos0) / 380)   </a:t>
            </a:r>
          </a:p>
          <a:p>
            <a:r>
              <a:rPr lang="pt-BR" dirty="0">
                <a:latin typeface="Open Sans" panose="020B0606030504020204" pitchFamily="34" charset="0"/>
                <a:ea typeface="Open Sans" panose="020B0606030504020204" pitchFamily="34" charset="0"/>
                <a:cs typeface="Open Sans" panose="020B0606030504020204" pitchFamily="34" charset="0"/>
              </a:rPr>
              <a:t>= 1756N</a:t>
            </a:r>
            <a:endParaRPr lang="en-IN" dirty="0">
              <a:latin typeface="Open Sans" panose="020B0606030504020204" pitchFamily="34" charset="0"/>
              <a:ea typeface="Open Sans" panose="020B0606030504020204" pitchFamily="34" charset="0"/>
              <a:cs typeface="Open Sans" panose="020B0606030504020204" pitchFamily="34" charset="0"/>
            </a:endParaRPr>
          </a:p>
          <a:p>
            <a:r>
              <a:rPr lang="en-IN" dirty="0">
                <a:latin typeface="Open Sans" panose="020B0606030504020204" pitchFamily="34" charset="0"/>
                <a:ea typeface="Open Sans" panose="020B0606030504020204" pitchFamily="34" charset="0"/>
                <a:cs typeface="Open Sans" panose="020B0606030504020204" pitchFamily="34" charset="0"/>
              </a:rPr>
              <a:t>iii). Frictional force </a:t>
            </a:r>
          </a:p>
          <a:p>
            <a:r>
              <a:rPr lang="en-IN" dirty="0">
                <a:latin typeface="Open Sans" panose="020B0606030504020204" pitchFamily="34" charset="0"/>
                <a:ea typeface="Open Sans" panose="020B0606030504020204" pitchFamily="34" charset="0"/>
                <a:cs typeface="Open Sans" panose="020B0606030504020204" pitchFamily="34" charset="0"/>
              </a:rPr>
              <a:t>The force of friction due to piston rings and piston is,  </a:t>
            </a:r>
          </a:p>
          <a:p>
            <a:r>
              <a:rPr lang="en-IN" dirty="0">
                <a:latin typeface="Open Sans" panose="020B0606030504020204" pitchFamily="34" charset="0"/>
                <a:ea typeface="Open Sans" panose="020B0606030504020204" pitchFamily="34" charset="0"/>
                <a:cs typeface="Open Sans" panose="020B0606030504020204" pitchFamily="34" charset="0"/>
              </a:rPr>
              <a:t>Ff = h x </a:t>
            </a:r>
            <a:r>
              <a:rPr lang="el-GR" dirty="0">
                <a:latin typeface="Open Sans" panose="020B0606030504020204" pitchFamily="34" charset="0"/>
                <a:ea typeface="Open Sans" panose="020B0606030504020204" pitchFamily="34" charset="0"/>
                <a:cs typeface="Open Sans" panose="020B0606030504020204" pitchFamily="34" charset="0"/>
              </a:rPr>
              <a:t>π </a:t>
            </a:r>
            <a:r>
              <a:rPr lang="en-IN" dirty="0">
                <a:latin typeface="Open Sans" panose="020B0606030504020204" pitchFamily="34" charset="0"/>
                <a:ea typeface="Open Sans" panose="020B0606030504020204" pitchFamily="34" charset="0"/>
                <a:cs typeface="Open Sans" panose="020B0606030504020204" pitchFamily="34" charset="0"/>
              </a:rPr>
              <a:t>x d x </a:t>
            </a:r>
            <a:r>
              <a:rPr lang="en-IN" dirty="0" err="1">
                <a:latin typeface="Open Sans" panose="020B0606030504020204" pitchFamily="34" charset="0"/>
                <a:ea typeface="Open Sans" panose="020B0606030504020204" pitchFamily="34" charset="0"/>
                <a:cs typeface="Open Sans" panose="020B0606030504020204" pitchFamily="34" charset="0"/>
              </a:rPr>
              <a:t>i</a:t>
            </a:r>
            <a:r>
              <a:rPr lang="en-IN" dirty="0">
                <a:latin typeface="Open Sans" panose="020B0606030504020204" pitchFamily="34" charset="0"/>
                <a:ea typeface="Open Sans" panose="020B0606030504020204" pitchFamily="34" charset="0"/>
                <a:cs typeface="Open Sans" panose="020B0606030504020204" pitchFamily="34" charset="0"/>
              </a:rPr>
              <a:t> x pr x </a:t>
            </a:r>
            <a:r>
              <a:rPr lang="el-GR" dirty="0">
                <a:latin typeface="Open Sans" panose="020B0606030504020204" pitchFamily="34" charset="0"/>
                <a:ea typeface="Open Sans" panose="020B0606030504020204" pitchFamily="34" charset="0"/>
                <a:cs typeface="Open Sans" panose="020B0606030504020204" pitchFamily="34" charset="0"/>
              </a:rPr>
              <a:t>μ </a:t>
            </a:r>
          </a:p>
          <a:p>
            <a:r>
              <a:rPr lang="el-GR" dirty="0">
                <a:latin typeface="Open Sans" panose="020B0606030504020204" pitchFamily="34" charset="0"/>
                <a:ea typeface="Open Sans" panose="020B0606030504020204" pitchFamily="34" charset="0"/>
                <a:cs typeface="Open Sans" panose="020B0606030504020204" pitchFamily="34" charset="0"/>
              </a:rPr>
              <a:t>    =635.23 </a:t>
            </a:r>
            <a:r>
              <a:rPr lang="en-IN" dirty="0">
                <a:latin typeface="Open Sans" panose="020B0606030504020204" pitchFamily="34" charset="0"/>
                <a:ea typeface="Open Sans" panose="020B0606030504020204" pitchFamily="34" charset="0"/>
                <a:cs typeface="Open Sans" panose="020B0606030504020204" pitchFamily="34" charset="0"/>
              </a:rPr>
              <a:t>x 3.14 x 100 x 3 x 0.137 x 0.05 </a:t>
            </a:r>
          </a:p>
          <a:p>
            <a:r>
              <a:rPr lang="en-IN" dirty="0">
                <a:latin typeface="Open Sans" panose="020B0606030504020204" pitchFamily="34" charset="0"/>
                <a:ea typeface="Open Sans" panose="020B0606030504020204" pitchFamily="34" charset="0"/>
                <a:cs typeface="Open Sans" panose="020B0606030504020204" pitchFamily="34" charset="0"/>
              </a:rPr>
              <a:t>= 4099N  </a:t>
            </a:r>
          </a:p>
          <a:p>
            <a:r>
              <a:rPr lang="en-IN" dirty="0">
                <a:latin typeface="Open Sans" panose="020B0606030504020204" pitchFamily="34" charset="0"/>
                <a:ea typeface="Open Sans" panose="020B0606030504020204" pitchFamily="34" charset="0"/>
                <a:cs typeface="Open Sans" panose="020B0606030504020204" pitchFamily="34" charset="0"/>
              </a:rPr>
              <a:t>iv). Force acting on piston  </a:t>
            </a:r>
          </a:p>
          <a:p>
            <a:r>
              <a:rPr lang="en-IN" dirty="0">
                <a:latin typeface="Open Sans" panose="020B0606030504020204" pitchFamily="34" charset="0"/>
                <a:ea typeface="Open Sans" panose="020B0606030504020204" pitchFamily="34" charset="0"/>
                <a:cs typeface="Open Sans" panose="020B0606030504020204" pitchFamily="34" charset="0"/>
              </a:rPr>
              <a:t>F = </a:t>
            </a:r>
            <a:r>
              <a:rPr lang="en-IN" dirty="0" err="1">
                <a:latin typeface="Open Sans" panose="020B0606030504020204" pitchFamily="34" charset="0"/>
                <a:ea typeface="Open Sans" panose="020B0606030504020204" pitchFamily="34" charset="0"/>
                <a:cs typeface="Open Sans" panose="020B0606030504020204" pitchFamily="34" charset="0"/>
              </a:rPr>
              <a:t>Fgas</a:t>
            </a:r>
            <a:r>
              <a:rPr lang="en-IN" dirty="0">
                <a:latin typeface="Open Sans" panose="020B0606030504020204" pitchFamily="34" charset="0"/>
                <a:ea typeface="Open Sans" panose="020B0606030504020204" pitchFamily="34" charset="0"/>
                <a:cs typeface="Open Sans" panose="020B0606030504020204" pitchFamily="34" charset="0"/>
              </a:rPr>
              <a:t> + </a:t>
            </a:r>
            <a:r>
              <a:rPr lang="en-IN" dirty="0" err="1">
                <a:latin typeface="Open Sans" panose="020B0606030504020204" pitchFamily="34" charset="0"/>
                <a:ea typeface="Open Sans" panose="020B0606030504020204" pitchFamily="34" charset="0"/>
                <a:cs typeface="Open Sans" panose="020B0606030504020204" pitchFamily="34" charset="0"/>
              </a:rPr>
              <a:t>Finertia</a:t>
            </a:r>
            <a:r>
              <a:rPr lang="en-IN" dirty="0">
                <a:latin typeface="Open Sans" panose="020B0606030504020204" pitchFamily="34" charset="0"/>
                <a:ea typeface="Open Sans" panose="020B0606030504020204" pitchFamily="34" charset="0"/>
                <a:cs typeface="Open Sans" panose="020B0606030504020204" pitchFamily="34" charset="0"/>
              </a:rPr>
              <a:t> - </a:t>
            </a:r>
            <a:r>
              <a:rPr lang="en-IN" dirty="0" err="1">
                <a:latin typeface="Open Sans" panose="020B0606030504020204" pitchFamily="34" charset="0"/>
                <a:ea typeface="Open Sans" panose="020B0606030504020204" pitchFamily="34" charset="0"/>
                <a:cs typeface="Open Sans" panose="020B0606030504020204" pitchFamily="34" charset="0"/>
              </a:rPr>
              <a:t>Ffriction</a:t>
            </a:r>
            <a:r>
              <a:rPr lang="en-IN" dirty="0">
                <a:latin typeface="Open Sans" panose="020B0606030504020204" pitchFamily="34" charset="0"/>
                <a:ea typeface="Open Sans" panose="020B0606030504020204" pitchFamily="34" charset="0"/>
                <a:cs typeface="Open Sans" panose="020B0606030504020204" pitchFamily="34" charset="0"/>
              </a:rPr>
              <a:t>  </a:t>
            </a:r>
          </a:p>
          <a:p>
            <a:r>
              <a:rPr lang="en-IN" dirty="0">
                <a:latin typeface="Open Sans" panose="020B0606030504020204" pitchFamily="34" charset="0"/>
                <a:ea typeface="Open Sans" panose="020B0606030504020204" pitchFamily="34" charset="0"/>
                <a:cs typeface="Open Sans" panose="020B0606030504020204" pitchFamily="34" charset="0"/>
              </a:rPr>
              <a:t>     = 24,740+1756-4099 </a:t>
            </a:r>
          </a:p>
          <a:p>
            <a:r>
              <a:rPr lang="en-IN" dirty="0">
                <a:latin typeface="Open Sans" panose="020B0606030504020204" pitchFamily="34" charset="0"/>
                <a:ea typeface="Open Sans" panose="020B0606030504020204" pitchFamily="34" charset="0"/>
                <a:cs typeface="Open Sans" panose="020B0606030504020204" pitchFamily="34" charset="0"/>
              </a:rPr>
              <a:t>=22,397N </a:t>
            </a:r>
          </a:p>
          <a:p>
            <a:r>
              <a:rPr lang="en-IN" dirty="0">
                <a:latin typeface="Open Sans" panose="020B0606030504020204" pitchFamily="34" charset="0"/>
                <a:ea typeface="Open Sans" panose="020B0606030504020204" pitchFamily="34" charset="0"/>
                <a:cs typeface="Open Sans" panose="020B0606030504020204" pitchFamily="34" charset="0"/>
              </a:rPr>
              <a:t>V). Force acting on connecting rod  </a:t>
            </a:r>
          </a:p>
          <a:p>
            <a:r>
              <a:rPr lang="en-IN" dirty="0">
                <a:latin typeface="Open Sans" panose="020B0606030504020204" pitchFamily="34" charset="0"/>
                <a:ea typeface="Open Sans" panose="020B0606030504020204" pitchFamily="34" charset="0"/>
                <a:cs typeface="Open Sans" panose="020B0606030504020204" pitchFamily="34" charset="0"/>
              </a:rPr>
              <a:t>Fc = F / cos</a:t>
            </a:r>
            <a:r>
              <a:rPr lang="el-GR" dirty="0">
                <a:latin typeface="Open Sans" panose="020B0606030504020204" pitchFamily="34" charset="0"/>
                <a:ea typeface="Open Sans" panose="020B0606030504020204" pitchFamily="34" charset="0"/>
                <a:cs typeface="Open Sans" panose="020B0606030504020204" pitchFamily="34" charset="0"/>
              </a:rPr>
              <a:t>β [</a:t>
            </a:r>
            <a:r>
              <a:rPr lang="en-IN" dirty="0">
                <a:latin typeface="Open Sans" panose="020B0606030504020204" pitchFamily="34" charset="0"/>
                <a:ea typeface="Open Sans" panose="020B0606030504020204" pitchFamily="34" charset="0"/>
                <a:cs typeface="Open Sans" panose="020B0606030504020204" pitchFamily="34" charset="0"/>
              </a:rPr>
              <a:t>At top dead </a:t>
            </a:r>
            <a:r>
              <a:rPr lang="en-IN" dirty="0" err="1">
                <a:latin typeface="Open Sans" panose="020B0606030504020204" pitchFamily="34" charset="0"/>
                <a:ea typeface="Open Sans" panose="020B0606030504020204" pitchFamily="34" charset="0"/>
                <a:cs typeface="Open Sans" panose="020B0606030504020204" pitchFamily="34" charset="0"/>
              </a:rPr>
              <a:t>center</a:t>
            </a:r>
            <a:r>
              <a:rPr lang="en-IN" dirty="0">
                <a:latin typeface="Open Sans" panose="020B0606030504020204" pitchFamily="34" charset="0"/>
                <a:ea typeface="Open Sans" panose="020B0606030504020204" pitchFamily="34" charset="0"/>
                <a:cs typeface="Open Sans" panose="020B0606030504020204" pitchFamily="34" charset="0"/>
              </a:rPr>
              <a:t> </a:t>
            </a:r>
            <a:r>
              <a:rPr lang="el-GR" dirty="0">
                <a:latin typeface="Open Sans" panose="020B0606030504020204" pitchFamily="34" charset="0"/>
                <a:ea typeface="Open Sans" panose="020B0606030504020204" pitchFamily="34" charset="0"/>
                <a:cs typeface="Open Sans" panose="020B0606030504020204" pitchFamily="34" charset="0"/>
              </a:rPr>
              <a:t>β=0] </a:t>
            </a:r>
          </a:p>
          <a:p>
            <a:r>
              <a:rPr lang="el-GR" dirty="0">
                <a:latin typeface="Open Sans" panose="020B0606030504020204" pitchFamily="34" charset="0"/>
                <a:ea typeface="Open Sans" panose="020B0606030504020204" pitchFamily="34" charset="0"/>
                <a:cs typeface="Open Sans" panose="020B0606030504020204" pitchFamily="34" charset="0"/>
              </a:rPr>
              <a:t>    =22,397 / </a:t>
            </a:r>
            <a:r>
              <a:rPr lang="en-IN" dirty="0">
                <a:latin typeface="Open Sans" panose="020B0606030504020204" pitchFamily="34" charset="0"/>
                <a:ea typeface="Open Sans" panose="020B0606030504020204" pitchFamily="34" charset="0"/>
                <a:cs typeface="Open Sans" panose="020B0606030504020204" pitchFamily="34" charset="0"/>
              </a:rPr>
              <a:t>cos0  </a:t>
            </a:r>
          </a:p>
          <a:p>
            <a:r>
              <a:rPr lang="en-IN" dirty="0">
                <a:latin typeface="Open Sans" panose="020B0606030504020204" pitchFamily="34" charset="0"/>
                <a:ea typeface="Open Sans" panose="020B0606030504020204" pitchFamily="34" charset="0"/>
                <a:cs typeface="Open Sans" panose="020B0606030504020204" pitchFamily="34" charset="0"/>
              </a:rPr>
              <a:t>= 22,397 N</a:t>
            </a:r>
          </a:p>
          <a:p>
            <a:endParaRPr lang="en-IN" u="sng" dirty="0">
              <a:latin typeface="Open Sans" panose="020B0606030504020204" pitchFamily="34" charset="0"/>
              <a:ea typeface="Open Sans" panose="020B0606030504020204" pitchFamily="34" charset="0"/>
              <a:cs typeface="Open Sans" panose="020B0606030504020204" pitchFamily="34" charset="0"/>
            </a:endParaRPr>
          </a:p>
          <a:p>
            <a:r>
              <a:rPr lang="en-IN" dirty="0">
                <a:latin typeface="Open Sans" panose="020B0606030504020204" pitchFamily="34" charset="0"/>
                <a:ea typeface="Open Sans" panose="020B0606030504020204" pitchFamily="34" charset="0"/>
                <a:cs typeface="Open Sans" panose="020B0606030504020204" pitchFamily="34" charset="0"/>
              </a:rPr>
              <a:t>Pressure on connecting rod = Force / area =  432 MPa</a:t>
            </a:r>
          </a:p>
        </p:txBody>
      </p:sp>
    </p:spTree>
    <p:extLst>
      <p:ext uri="{BB962C8B-B14F-4D97-AF65-F5344CB8AC3E}">
        <p14:creationId xmlns:p14="http://schemas.microsoft.com/office/powerpoint/2010/main" val="1606685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9C3E82-AB8E-40D5-59D4-606E09C4DA54}"/>
              </a:ext>
            </a:extLst>
          </p:cNvPr>
          <p:cNvPicPr>
            <a:picLocks noChangeAspect="1"/>
          </p:cNvPicPr>
          <p:nvPr/>
        </p:nvPicPr>
        <p:blipFill>
          <a:blip r:embed="rId2"/>
          <a:stretch>
            <a:fillRect/>
          </a:stretch>
        </p:blipFill>
        <p:spPr>
          <a:xfrm>
            <a:off x="1321418" y="299590"/>
            <a:ext cx="3610479" cy="2200582"/>
          </a:xfrm>
          <a:prstGeom prst="rect">
            <a:avLst/>
          </a:prstGeom>
        </p:spPr>
      </p:pic>
      <p:pic>
        <p:nvPicPr>
          <p:cNvPr id="5" name="Picture 4">
            <a:extLst>
              <a:ext uri="{FF2B5EF4-FFF2-40B4-BE49-F238E27FC236}">
                <a16:creationId xmlns:a16="http://schemas.microsoft.com/office/drawing/2014/main" id="{5C9B28F3-C5F4-4119-0B2C-AEFB442D185A}"/>
              </a:ext>
            </a:extLst>
          </p:cNvPr>
          <p:cNvPicPr>
            <a:picLocks noChangeAspect="1"/>
          </p:cNvPicPr>
          <p:nvPr/>
        </p:nvPicPr>
        <p:blipFill>
          <a:blip r:embed="rId3"/>
          <a:stretch>
            <a:fillRect/>
          </a:stretch>
        </p:blipFill>
        <p:spPr>
          <a:xfrm>
            <a:off x="6578521" y="213853"/>
            <a:ext cx="3858163" cy="2286319"/>
          </a:xfrm>
          <a:prstGeom prst="rect">
            <a:avLst/>
          </a:prstGeom>
        </p:spPr>
      </p:pic>
      <p:pic>
        <p:nvPicPr>
          <p:cNvPr id="7" name="Picture 6">
            <a:extLst>
              <a:ext uri="{FF2B5EF4-FFF2-40B4-BE49-F238E27FC236}">
                <a16:creationId xmlns:a16="http://schemas.microsoft.com/office/drawing/2014/main" id="{8F74FE29-48E0-D2B7-003F-3BC81FB77CAD}"/>
              </a:ext>
            </a:extLst>
          </p:cNvPr>
          <p:cNvPicPr>
            <a:picLocks noChangeAspect="1"/>
          </p:cNvPicPr>
          <p:nvPr/>
        </p:nvPicPr>
        <p:blipFill>
          <a:blip r:embed="rId4"/>
          <a:stretch>
            <a:fillRect/>
          </a:stretch>
        </p:blipFill>
        <p:spPr>
          <a:xfrm>
            <a:off x="3582837" y="3348466"/>
            <a:ext cx="3867690" cy="2753109"/>
          </a:xfrm>
          <a:prstGeom prst="rect">
            <a:avLst/>
          </a:prstGeom>
        </p:spPr>
      </p:pic>
      <p:sp>
        <p:nvSpPr>
          <p:cNvPr id="8" name="TextBox 7">
            <a:extLst>
              <a:ext uri="{FF2B5EF4-FFF2-40B4-BE49-F238E27FC236}">
                <a16:creationId xmlns:a16="http://schemas.microsoft.com/office/drawing/2014/main" id="{ED4920CD-0955-6659-C587-72C8210441EC}"/>
              </a:ext>
            </a:extLst>
          </p:cNvPr>
          <p:cNvSpPr txBox="1"/>
          <p:nvPr/>
        </p:nvSpPr>
        <p:spPr>
          <a:xfrm>
            <a:off x="1321418" y="2670994"/>
            <a:ext cx="3195376" cy="369332"/>
          </a:xfrm>
          <a:prstGeom prst="rect">
            <a:avLst/>
          </a:prstGeom>
          <a:noFill/>
        </p:spPr>
        <p:txBody>
          <a:bodyPr wrap="square" rtlCol="0">
            <a:spAutoFit/>
          </a:bodyPr>
          <a:lstStyle/>
          <a:p>
            <a:r>
              <a:rPr lang="en-IN" u="sng" dirty="0"/>
              <a:t>Solid model of connecting rod</a:t>
            </a:r>
          </a:p>
        </p:txBody>
      </p:sp>
      <p:sp>
        <p:nvSpPr>
          <p:cNvPr id="10" name="TextBox 9">
            <a:extLst>
              <a:ext uri="{FF2B5EF4-FFF2-40B4-BE49-F238E27FC236}">
                <a16:creationId xmlns:a16="http://schemas.microsoft.com/office/drawing/2014/main" id="{DCEDD7C0-A371-3786-10AB-203C3EE2E6EE}"/>
              </a:ext>
            </a:extLst>
          </p:cNvPr>
          <p:cNvSpPr txBox="1"/>
          <p:nvPr/>
        </p:nvSpPr>
        <p:spPr>
          <a:xfrm>
            <a:off x="3892679" y="6225049"/>
            <a:ext cx="3248005" cy="369332"/>
          </a:xfrm>
          <a:prstGeom prst="rect">
            <a:avLst/>
          </a:prstGeom>
          <a:noFill/>
        </p:spPr>
        <p:txBody>
          <a:bodyPr wrap="none" rtlCol="0">
            <a:spAutoFit/>
          </a:bodyPr>
          <a:lstStyle/>
          <a:p>
            <a:r>
              <a:rPr lang="en-IN" u="sng" dirty="0"/>
              <a:t>Equivalent stress of carbon steel</a:t>
            </a:r>
          </a:p>
        </p:txBody>
      </p:sp>
      <p:sp>
        <p:nvSpPr>
          <p:cNvPr id="11" name="TextBox 10">
            <a:extLst>
              <a:ext uri="{FF2B5EF4-FFF2-40B4-BE49-F238E27FC236}">
                <a16:creationId xmlns:a16="http://schemas.microsoft.com/office/drawing/2014/main" id="{0ABD17D0-EBB3-3553-49C2-32ECF3D06118}"/>
              </a:ext>
            </a:extLst>
          </p:cNvPr>
          <p:cNvSpPr txBox="1"/>
          <p:nvPr/>
        </p:nvSpPr>
        <p:spPr>
          <a:xfrm>
            <a:off x="6962948" y="2670994"/>
            <a:ext cx="3089307" cy="369332"/>
          </a:xfrm>
          <a:prstGeom prst="rect">
            <a:avLst/>
          </a:prstGeom>
          <a:noFill/>
        </p:spPr>
        <p:txBody>
          <a:bodyPr wrap="none" rtlCol="0">
            <a:spAutoFit/>
          </a:bodyPr>
          <a:lstStyle/>
          <a:p>
            <a:r>
              <a:rPr lang="en-IN" u="sng" dirty="0"/>
              <a:t>Meshing of the connecting rod</a:t>
            </a:r>
          </a:p>
        </p:txBody>
      </p:sp>
    </p:spTree>
    <p:extLst>
      <p:ext uri="{BB962C8B-B14F-4D97-AF65-F5344CB8AC3E}">
        <p14:creationId xmlns:p14="http://schemas.microsoft.com/office/powerpoint/2010/main" val="904021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ext 0"/>
          <p:cNvSpPr/>
          <p:nvPr/>
        </p:nvSpPr>
        <p:spPr>
          <a:xfrm>
            <a:off x="3080495" y="251372"/>
            <a:ext cx="6382345" cy="756246"/>
          </a:xfrm>
          <a:prstGeom prst="rect">
            <a:avLst/>
          </a:prstGeom>
          <a:noFill/>
          <a:ln/>
        </p:spPr>
        <p:txBody>
          <a:bodyPr wrap="square" lIns="0" tIns="0" rIns="0" bIns="0" rtlCol="0" anchor="t"/>
          <a:lstStyle/>
          <a:p>
            <a:pPr>
              <a:lnSpc>
                <a:spcPts val="4625"/>
              </a:lnSpc>
            </a:pPr>
            <a:r>
              <a:rPr lang="en-US" sz="3708" dirty="0">
                <a:solidFill>
                  <a:srgbClr val="403CCF"/>
                </a:solidFill>
                <a:latin typeface="Libre Baskerville" pitchFamily="34" charset="0"/>
                <a:ea typeface="Libre Baskerville" pitchFamily="34" charset="-122"/>
                <a:cs typeface="Libre Baskerville" pitchFamily="34" charset="-120"/>
              </a:rPr>
              <a:t>Analysis and Results</a:t>
            </a:r>
            <a:endParaRPr lang="en-US" sz="3708" dirty="0"/>
          </a:p>
        </p:txBody>
      </p:sp>
      <p:sp>
        <p:nvSpPr>
          <p:cNvPr id="3" name="Text 1"/>
          <p:cNvSpPr/>
          <p:nvPr/>
        </p:nvSpPr>
        <p:spPr>
          <a:xfrm>
            <a:off x="717799" y="2714243"/>
            <a:ext cx="2362696" cy="295275"/>
          </a:xfrm>
          <a:prstGeom prst="rect">
            <a:avLst/>
          </a:prstGeom>
          <a:noFill/>
          <a:ln/>
        </p:spPr>
        <p:txBody>
          <a:bodyPr wrap="none" lIns="0" tIns="0" rIns="0" bIns="0" rtlCol="0" anchor="t"/>
          <a:lstStyle/>
          <a:p>
            <a:pPr algn="r">
              <a:lnSpc>
                <a:spcPts val="2292"/>
              </a:lnSpc>
            </a:pPr>
            <a:r>
              <a:rPr lang="en-US" sz="1833" dirty="0">
                <a:solidFill>
                  <a:srgbClr val="49495A"/>
                </a:solidFill>
                <a:latin typeface="Libre Baskerville" pitchFamily="34" charset="0"/>
                <a:ea typeface="Libre Baskerville" pitchFamily="34" charset="-122"/>
                <a:cs typeface="Libre Baskerville" pitchFamily="34" charset="-120"/>
              </a:rPr>
              <a:t>Life cycle</a:t>
            </a:r>
            <a:endParaRPr lang="en-US" sz="1833" dirty="0"/>
          </a:p>
        </p:txBody>
      </p:sp>
      <p:sp>
        <p:nvSpPr>
          <p:cNvPr id="4" name="Text 2"/>
          <p:cNvSpPr/>
          <p:nvPr/>
        </p:nvSpPr>
        <p:spPr>
          <a:xfrm>
            <a:off x="661492" y="3088581"/>
            <a:ext cx="3248918" cy="604838"/>
          </a:xfrm>
          <a:prstGeom prst="rect">
            <a:avLst/>
          </a:prstGeom>
          <a:noFill/>
          <a:ln/>
        </p:spPr>
        <p:txBody>
          <a:bodyPr wrap="square" lIns="0" tIns="0" rIns="0" bIns="0" rtlCol="0" anchor="t"/>
          <a:lstStyle/>
          <a:p>
            <a:pPr algn="r">
              <a:lnSpc>
                <a:spcPts val="2375"/>
              </a:lnSpc>
            </a:pPr>
            <a:r>
              <a:rPr lang="en-US" sz="1458" dirty="0">
                <a:solidFill>
                  <a:srgbClr val="49495A"/>
                </a:solidFill>
                <a:latin typeface="Open Sans" pitchFamily="34" charset="0"/>
                <a:ea typeface="Open Sans" pitchFamily="34" charset="-122"/>
                <a:cs typeface="Open Sans" pitchFamily="34" charset="-120"/>
              </a:rPr>
              <a:t>Life cycle is  more due to  more endurance limit of carbon steel.</a:t>
            </a:r>
            <a:endParaRPr lang="en-US" sz="1458" dirty="0"/>
          </a:p>
        </p:txBody>
      </p:sp>
      <p:pic>
        <p:nvPicPr>
          <p:cNvPr id="5" name="Image 0" descr="preencoded.png"/>
          <p:cNvPicPr>
            <a:picLocks noChangeAspect="1"/>
          </p:cNvPicPr>
          <p:nvPr/>
        </p:nvPicPr>
        <p:blipFill>
          <a:blip r:embed="rId3"/>
          <a:stretch>
            <a:fillRect/>
          </a:stretch>
        </p:blipFill>
        <p:spPr>
          <a:xfrm>
            <a:off x="4193878" y="2306539"/>
            <a:ext cx="3804146" cy="3804146"/>
          </a:xfrm>
          <a:prstGeom prst="rect">
            <a:avLst/>
          </a:prstGeom>
        </p:spPr>
      </p:pic>
      <p:sp>
        <p:nvSpPr>
          <p:cNvPr id="6" name="Text 3"/>
          <p:cNvSpPr/>
          <p:nvPr/>
        </p:nvSpPr>
        <p:spPr>
          <a:xfrm>
            <a:off x="5188943" y="2942432"/>
            <a:ext cx="282773" cy="353517"/>
          </a:xfrm>
          <a:prstGeom prst="rect">
            <a:avLst/>
          </a:prstGeom>
          <a:noFill/>
          <a:ln/>
        </p:spPr>
        <p:txBody>
          <a:bodyPr wrap="none" lIns="0" tIns="0" rIns="0" bIns="0" rtlCol="0" anchor="t"/>
          <a:lstStyle/>
          <a:p>
            <a:pPr>
              <a:lnSpc>
                <a:spcPts val="3542"/>
              </a:lnSpc>
            </a:pPr>
            <a:r>
              <a:rPr lang="en-US" sz="2208" dirty="0">
                <a:solidFill>
                  <a:srgbClr val="49495A"/>
                </a:solidFill>
                <a:latin typeface="Libre Baskerville" pitchFamily="34" charset="0"/>
                <a:ea typeface="Libre Baskerville" pitchFamily="34" charset="-122"/>
                <a:cs typeface="Libre Baskerville" pitchFamily="34" charset="-120"/>
              </a:rPr>
              <a:t>1</a:t>
            </a:r>
            <a:endParaRPr lang="en-US" sz="2208" dirty="0"/>
          </a:p>
        </p:txBody>
      </p:sp>
      <p:sp>
        <p:nvSpPr>
          <p:cNvPr id="7" name="Text 4"/>
          <p:cNvSpPr/>
          <p:nvPr/>
        </p:nvSpPr>
        <p:spPr>
          <a:xfrm>
            <a:off x="8281492" y="2679898"/>
            <a:ext cx="2631083" cy="295275"/>
          </a:xfrm>
          <a:prstGeom prst="rect">
            <a:avLst/>
          </a:prstGeom>
          <a:noFill/>
          <a:ln/>
        </p:spPr>
        <p:txBody>
          <a:bodyPr wrap="none" lIns="0" tIns="0" rIns="0" bIns="0" rtlCol="0" anchor="t"/>
          <a:lstStyle/>
          <a:p>
            <a:pPr>
              <a:lnSpc>
                <a:spcPts val="2292"/>
              </a:lnSpc>
            </a:pPr>
            <a:r>
              <a:rPr lang="en-US" sz="1833" dirty="0">
                <a:solidFill>
                  <a:srgbClr val="49495A"/>
                </a:solidFill>
                <a:latin typeface="Libre Baskerville" pitchFamily="34" charset="0"/>
                <a:ea typeface="Libre Baskerville" pitchFamily="34" charset="-122"/>
                <a:cs typeface="Libre Baskerville" pitchFamily="34" charset="-120"/>
              </a:rPr>
              <a:t>High impact resistance</a:t>
            </a:r>
            <a:endParaRPr lang="en-US" sz="1833" dirty="0"/>
          </a:p>
        </p:txBody>
      </p:sp>
      <p:sp>
        <p:nvSpPr>
          <p:cNvPr id="8" name="Text 5"/>
          <p:cNvSpPr/>
          <p:nvPr/>
        </p:nvSpPr>
        <p:spPr>
          <a:xfrm>
            <a:off x="8281492" y="3088581"/>
            <a:ext cx="3249018" cy="604838"/>
          </a:xfrm>
          <a:prstGeom prst="rect">
            <a:avLst/>
          </a:prstGeom>
          <a:noFill/>
          <a:ln/>
        </p:spPr>
        <p:txBody>
          <a:bodyPr wrap="square" lIns="0" tIns="0" rIns="0" bIns="0" rtlCol="0" anchor="t"/>
          <a:lstStyle/>
          <a:p>
            <a:pPr>
              <a:lnSpc>
                <a:spcPts val="2375"/>
              </a:lnSpc>
            </a:pPr>
            <a:r>
              <a:rPr lang="en-US" sz="1458" dirty="0">
                <a:solidFill>
                  <a:srgbClr val="49495A"/>
                </a:solidFill>
                <a:latin typeface="Open Sans" pitchFamily="34" charset="0"/>
                <a:ea typeface="Open Sans" pitchFamily="34" charset="-122"/>
                <a:cs typeface="Open Sans" pitchFamily="34" charset="-120"/>
              </a:rPr>
              <a:t>Due to high tensile strength of Carbon steel.</a:t>
            </a:r>
            <a:endParaRPr lang="en-US" sz="1458" dirty="0"/>
          </a:p>
        </p:txBody>
      </p:sp>
      <p:pic>
        <p:nvPicPr>
          <p:cNvPr id="9" name="Image 1" descr="preencoded.png"/>
          <p:cNvPicPr>
            <a:picLocks noChangeAspect="1"/>
          </p:cNvPicPr>
          <p:nvPr/>
        </p:nvPicPr>
        <p:blipFill>
          <a:blip r:embed="rId4"/>
          <a:stretch>
            <a:fillRect/>
          </a:stretch>
        </p:blipFill>
        <p:spPr>
          <a:xfrm>
            <a:off x="4193878" y="2306539"/>
            <a:ext cx="3804146" cy="3804146"/>
          </a:xfrm>
          <a:prstGeom prst="rect">
            <a:avLst/>
          </a:prstGeom>
        </p:spPr>
      </p:pic>
      <p:sp>
        <p:nvSpPr>
          <p:cNvPr id="10" name="Text 6"/>
          <p:cNvSpPr/>
          <p:nvPr/>
        </p:nvSpPr>
        <p:spPr>
          <a:xfrm>
            <a:off x="7043837" y="3266182"/>
            <a:ext cx="282773" cy="353517"/>
          </a:xfrm>
          <a:prstGeom prst="rect">
            <a:avLst/>
          </a:prstGeom>
          <a:noFill/>
          <a:ln/>
        </p:spPr>
        <p:txBody>
          <a:bodyPr wrap="none" lIns="0" tIns="0" rIns="0" bIns="0" rtlCol="0" anchor="t"/>
          <a:lstStyle/>
          <a:p>
            <a:pPr>
              <a:lnSpc>
                <a:spcPts val="3542"/>
              </a:lnSpc>
            </a:pPr>
            <a:r>
              <a:rPr lang="en-US" sz="2208" dirty="0">
                <a:solidFill>
                  <a:srgbClr val="49495A"/>
                </a:solidFill>
                <a:latin typeface="Libre Baskerville" pitchFamily="34" charset="0"/>
                <a:ea typeface="Libre Baskerville" pitchFamily="34" charset="-122"/>
                <a:cs typeface="Libre Baskerville" pitchFamily="34" charset="-120"/>
              </a:rPr>
              <a:t>2</a:t>
            </a:r>
            <a:endParaRPr lang="en-US" sz="2208" dirty="0"/>
          </a:p>
        </p:txBody>
      </p:sp>
      <p:sp>
        <p:nvSpPr>
          <p:cNvPr id="11" name="Text 7"/>
          <p:cNvSpPr/>
          <p:nvPr/>
        </p:nvSpPr>
        <p:spPr>
          <a:xfrm>
            <a:off x="8281492" y="4723706"/>
            <a:ext cx="2362696" cy="295275"/>
          </a:xfrm>
          <a:prstGeom prst="rect">
            <a:avLst/>
          </a:prstGeom>
          <a:noFill/>
          <a:ln/>
        </p:spPr>
        <p:txBody>
          <a:bodyPr wrap="none" lIns="0" tIns="0" rIns="0" bIns="0" rtlCol="0" anchor="t"/>
          <a:lstStyle/>
          <a:p>
            <a:pPr>
              <a:lnSpc>
                <a:spcPts val="2292"/>
              </a:lnSpc>
            </a:pPr>
            <a:r>
              <a:rPr lang="en-US" sz="1833" dirty="0">
                <a:solidFill>
                  <a:srgbClr val="49495A"/>
                </a:solidFill>
                <a:latin typeface="Libre Baskerville" pitchFamily="34" charset="0"/>
                <a:ea typeface="Libre Baskerville" pitchFamily="34" charset="-122"/>
                <a:cs typeface="Libre Baskerville" pitchFamily="34" charset="-120"/>
              </a:rPr>
              <a:t>Corrosion resistance</a:t>
            </a:r>
            <a:endParaRPr lang="en-US" sz="1833" dirty="0"/>
          </a:p>
        </p:txBody>
      </p:sp>
      <p:sp>
        <p:nvSpPr>
          <p:cNvPr id="12" name="Text 8"/>
          <p:cNvSpPr/>
          <p:nvPr/>
        </p:nvSpPr>
        <p:spPr>
          <a:xfrm>
            <a:off x="8281492" y="5132388"/>
            <a:ext cx="3249018" cy="604838"/>
          </a:xfrm>
          <a:prstGeom prst="rect">
            <a:avLst/>
          </a:prstGeom>
          <a:noFill/>
          <a:ln/>
        </p:spPr>
        <p:txBody>
          <a:bodyPr wrap="square" lIns="0" tIns="0" rIns="0" bIns="0" rtlCol="0" anchor="t"/>
          <a:lstStyle/>
          <a:p>
            <a:pPr>
              <a:lnSpc>
                <a:spcPts val="2375"/>
              </a:lnSpc>
            </a:pPr>
            <a:r>
              <a:rPr lang="en-US" sz="1458" dirty="0">
                <a:solidFill>
                  <a:srgbClr val="49495A"/>
                </a:solidFill>
                <a:latin typeface="Open Sans" pitchFamily="34" charset="0"/>
                <a:ea typeface="Open Sans" pitchFamily="34" charset="-122"/>
                <a:cs typeface="Open Sans" pitchFamily="34" charset="-120"/>
              </a:rPr>
              <a:t>High carbon percentage in cast iron reduces the corrosion resistance.</a:t>
            </a:r>
            <a:endParaRPr lang="en-US" sz="1458" dirty="0"/>
          </a:p>
        </p:txBody>
      </p:sp>
      <p:pic>
        <p:nvPicPr>
          <p:cNvPr id="13" name="Image 2" descr="preencoded.png"/>
          <p:cNvPicPr>
            <a:picLocks noChangeAspect="1"/>
          </p:cNvPicPr>
          <p:nvPr/>
        </p:nvPicPr>
        <p:blipFill>
          <a:blip r:embed="rId5"/>
          <a:stretch>
            <a:fillRect/>
          </a:stretch>
        </p:blipFill>
        <p:spPr>
          <a:xfrm>
            <a:off x="4193878" y="2306539"/>
            <a:ext cx="3804146" cy="3804146"/>
          </a:xfrm>
          <a:prstGeom prst="rect">
            <a:avLst/>
          </a:prstGeom>
        </p:spPr>
      </p:pic>
      <p:sp>
        <p:nvSpPr>
          <p:cNvPr id="14" name="Text 9"/>
          <p:cNvSpPr/>
          <p:nvPr/>
        </p:nvSpPr>
        <p:spPr>
          <a:xfrm>
            <a:off x="6720086" y="5121077"/>
            <a:ext cx="282773" cy="353517"/>
          </a:xfrm>
          <a:prstGeom prst="rect">
            <a:avLst/>
          </a:prstGeom>
          <a:noFill/>
          <a:ln/>
        </p:spPr>
        <p:txBody>
          <a:bodyPr wrap="none" lIns="0" tIns="0" rIns="0" bIns="0" rtlCol="0" anchor="t"/>
          <a:lstStyle/>
          <a:p>
            <a:pPr>
              <a:lnSpc>
                <a:spcPts val="3542"/>
              </a:lnSpc>
            </a:pPr>
            <a:r>
              <a:rPr lang="en-US" sz="2208" dirty="0">
                <a:solidFill>
                  <a:srgbClr val="49495A"/>
                </a:solidFill>
                <a:latin typeface="Libre Baskerville" pitchFamily="34" charset="0"/>
                <a:ea typeface="Libre Baskerville" pitchFamily="34" charset="-122"/>
                <a:cs typeface="Libre Baskerville" pitchFamily="34" charset="-120"/>
              </a:rPr>
              <a:t>3</a:t>
            </a:r>
            <a:endParaRPr lang="en-US" sz="2208" dirty="0"/>
          </a:p>
        </p:txBody>
      </p:sp>
      <p:sp>
        <p:nvSpPr>
          <p:cNvPr id="15" name="Text 10"/>
          <p:cNvSpPr/>
          <p:nvPr/>
        </p:nvSpPr>
        <p:spPr>
          <a:xfrm>
            <a:off x="1253074" y="4723706"/>
            <a:ext cx="2362696" cy="295275"/>
          </a:xfrm>
          <a:prstGeom prst="rect">
            <a:avLst/>
          </a:prstGeom>
          <a:noFill/>
          <a:ln/>
        </p:spPr>
        <p:txBody>
          <a:bodyPr wrap="none" lIns="0" tIns="0" rIns="0" bIns="0" rtlCol="0" anchor="t"/>
          <a:lstStyle/>
          <a:p>
            <a:pPr algn="r">
              <a:lnSpc>
                <a:spcPts val="2292"/>
              </a:lnSpc>
            </a:pPr>
            <a:r>
              <a:rPr lang="en-US" sz="1833" dirty="0">
                <a:solidFill>
                  <a:srgbClr val="49495A"/>
                </a:solidFill>
                <a:latin typeface="Libre Baskerville" pitchFamily="34" charset="0"/>
                <a:ea typeface="Libre Baskerville" pitchFamily="34" charset="-122"/>
                <a:cs typeface="Libre Baskerville" pitchFamily="34" charset="-120"/>
              </a:rPr>
              <a:t>Dimensional Stability</a:t>
            </a:r>
            <a:endParaRPr lang="en-US" sz="1833" dirty="0"/>
          </a:p>
        </p:txBody>
      </p:sp>
      <p:sp>
        <p:nvSpPr>
          <p:cNvPr id="16" name="Text 11"/>
          <p:cNvSpPr/>
          <p:nvPr/>
        </p:nvSpPr>
        <p:spPr>
          <a:xfrm>
            <a:off x="661492" y="5132388"/>
            <a:ext cx="3248918" cy="891252"/>
          </a:xfrm>
          <a:prstGeom prst="rect">
            <a:avLst/>
          </a:prstGeom>
          <a:noFill/>
          <a:ln/>
        </p:spPr>
        <p:txBody>
          <a:bodyPr wrap="square" lIns="0" tIns="0" rIns="0" bIns="0" rtlCol="0" anchor="t"/>
          <a:lstStyle/>
          <a:p>
            <a:pPr algn="ctr">
              <a:lnSpc>
                <a:spcPts val="2375"/>
              </a:lnSpc>
            </a:pPr>
            <a:r>
              <a:rPr lang="en-US" sz="1458" dirty="0">
                <a:solidFill>
                  <a:srgbClr val="49495A"/>
                </a:solidFill>
                <a:latin typeface="Open Sans" pitchFamily="34" charset="0"/>
                <a:ea typeface="Open Sans" pitchFamily="34" charset="-122"/>
                <a:cs typeface="Open Sans" pitchFamily="34" charset="-120"/>
              </a:rPr>
              <a:t>Since carbon steel is more durable and has high thermal stress bearing capacity</a:t>
            </a:r>
            <a:endParaRPr lang="en-US" sz="1458" dirty="0"/>
          </a:p>
        </p:txBody>
      </p:sp>
      <p:pic>
        <p:nvPicPr>
          <p:cNvPr id="17" name="Image 3" descr="preencoded.png"/>
          <p:cNvPicPr>
            <a:picLocks noChangeAspect="1"/>
          </p:cNvPicPr>
          <p:nvPr/>
        </p:nvPicPr>
        <p:blipFill>
          <a:blip r:embed="rId6"/>
          <a:stretch>
            <a:fillRect/>
          </a:stretch>
        </p:blipFill>
        <p:spPr>
          <a:xfrm>
            <a:off x="4193878" y="2306539"/>
            <a:ext cx="3804146" cy="3804146"/>
          </a:xfrm>
          <a:prstGeom prst="rect">
            <a:avLst/>
          </a:prstGeom>
        </p:spPr>
      </p:pic>
      <p:sp>
        <p:nvSpPr>
          <p:cNvPr id="18" name="Text 12"/>
          <p:cNvSpPr/>
          <p:nvPr/>
        </p:nvSpPr>
        <p:spPr>
          <a:xfrm>
            <a:off x="4865192" y="4797326"/>
            <a:ext cx="282773" cy="353517"/>
          </a:xfrm>
          <a:prstGeom prst="rect">
            <a:avLst/>
          </a:prstGeom>
          <a:noFill/>
          <a:ln/>
        </p:spPr>
        <p:txBody>
          <a:bodyPr wrap="none" lIns="0" tIns="0" rIns="0" bIns="0" rtlCol="0" anchor="t"/>
          <a:lstStyle/>
          <a:p>
            <a:pPr>
              <a:lnSpc>
                <a:spcPts val="3542"/>
              </a:lnSpc>
            </a:pPr>
            <a:r>
              <a:rPr lang="en-US" sz="2208" dirty="0">
                <a:solidFill>
                  <a:srgbClr val="49495A"/>
                </a:solidFill>
                <a:latin typeface="Libre Baskerville" pitchFamily="34" charset="0"/>
                <a:ea typeface="Libre Baskerville" pitchFamily="34" charset="-122"/>
                <a:cs typeface="Libre Baskerville" pitchFamily="34" charset="-120"/>
              </a:rPr>
              <a:t>4</a:t>
            </a:r>
            <a:endParaRPr lang="en-US" sz="2208" dirty="0"/>
          </a:p>
        </p:txBody>
      </p:sp>
      <p:sp>
        <p:nvSpPr>
          <p:cNvPr id="19" name="TextBox 18">
            <a:extLst>
              <a:ext uri="{FF2B5EF4-FFF2-40B4-BE49-F238E27FC236}">
                <a16:creationId xmlns:a16="http://schemas.microsoft.com/office/drawing/2014/main" id="{EA1E8AF5-4C6C-F9C5-74CF-8546ACF68290}"/>
              </a:ext>
            </a:extLst>
          </p:cNvPr>
          <p:cNvSpPr txBox="1"/>
          <p:nvPr/>
        </p:nvSpPr>
        <p:spPr>
          <a:xfrm>
            <a:off x="1405981" y="1060826"/>
            <a:ext cx="10923670" cy="646331"/>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rgbClr val="49495A"/>
                </a:solidFill>
                <a:latin typeface="Open Sans" pitchFamily="34" charset="0"/>
                <a:ea typeface="Open Sans" pitchFamily="34" charset="-122"/>
                <a:cs typeface="Open Sans" pitchFamily="34" charset="-120"/>
              </a:rPr>
              <a:t>Carbon steel AISI 1045 is far better than cast iron due to given advantages for connecting rod in different vehicles.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89FE-4DA6-E8F7-89BB-CB380359F54B}"/>
              </a:ext>
            </a:extLst>
          </p:cNvPr>
          <p:cNvSpPr>
            <a:spLocks noGrp="1"/>
          </p:cNvSpPr>
          <p:nvPr>
            <p:ph type="title"/>
          </p:nvPr>
        </p:nvSpPr>
        <p:spPr>
          <a:xfrm>
            <a:off x="1362391" y="30481"/>
            <a:ext cx="10018713" cy="1036319"/>
          </a:xfrm>
        </p:spPr>
        <p:txBody>
          <a:bodyPr/>
          <a:lstStyle/>
          <a:p>
            <a:r>
              <a:rPr lang="en-IN" sz="3600" dirty="0">
                <a:solidFill>
                  <a:srgbClr val="403CCF"/>
                </a:solidFill>
                <a:latin typeface="Libre Baskerville" pitchFamily="34" charset="0"/>
              </a:rPr>
              <a:t>Conclusion</a:t>
            </a:r>
          </a:p>
        </p:txBody>
      </p:sp>
      <p:sp>
        <p:nvSpPr>
          <p:cNvPr id="4" name="TextBox 3">
            <a:extLst>
              <a:ext uri="{FF2B5EF4-FFF2-40B4-BE49-F238E27FC236}">
                <a16:creationId xmlns:a16="http://schemas.microsoft.com/office/drawing/2014/main" id="{F0590D0D-15E9-8E63-CA98-50042FD8C901}"/>
              </a:ext>
            </a:extLst>
          </p:cNvPr>
          <p:cNvSpPr txBox="1"/>
          <p:nvPr/>
        </p:nvSpPr>
        <p:spPr>
          <a:xfrm>
            <a:off x="1494471" y="987474"/>
            <a:ext cx="9203058" cy="2031325"/>
          </a:xfrm>
          <a:prstGeom prst="rect">
            <a:avLst/>
          </a:prstGeom>
          <a:noFill/>
        </p:spPr>
        <p:txBody>
          <a:bodyPr wrap="square" rtlCol="0">
            <a:spAutoFit/>
          </a:bodyPr>
          <a:lstStyle/>
          <a:p>
            <a:pPr algn="just"/>
            <a:r>
              <a:rPr lang="en-US" dirty="0">
                <a:solidFill>
                  <a:srgbClr val="49495A"/>
                </a:solidFill>
                <a:latin typeface="Open Sans" pitchFamily="34" charset="0"/>
                <a:ea typeface="Open Sans" pitchFamily="34" charset="-122"/>
                <a:cs typeface="Open Sans" pitchFamily="34" charset="-120"/>
              </a:rPr>
              <a:t>This overview research report studies the possibilities of Strength enhancement and life cycle in forged steel connecting rod. For increasing life cycle, Endurance limit was considered as a Consequential factor. First, the connecting rod was 3D modelled. After that load analysis was performed using ABAQUS software, these useful insights were drawn</a:t>
            </a:r>
          </a:p>
          <a:p>
            <a:endParaRPr lang="en-US" dirty="0">
              <a:solidFill>
                <a:srgbClr val="49495A"/>
              </a:solidFill>
              <a:latin typeface="Open Sans" pitchFamily="34" charset="0"/>
              <a:ea typeface="Open Sans" pitchFamily="34" charset="-122"/>
              <a:cs typeface="Open Sans" pitchFamily="34" charset="-120"/>
            </a:endParaRPr>
          </a:p>
          <a:p>
            <a:endParaRPr lang="en-US" dirty="0">
              <a:solidFill>
                <a:srgbClr val="49495A"/>
              </a:solidFill>
              <a:latin typeface="Open Sans" pitchFamily="34" charset="0"/>
              <a:ea typeface="Open Sans" pitchFamily="34" charset="-122"/>
              <a:cs typeface="Open Sans" pitchFamily="34" charset="-120"/>
            </a:endParaRPr>
          </a:p>
        </p:txBody>
      </p:sp>
      <p:pic>
        <p:nvPicPr>
          <p:cNvPr id="5" name="Image 1" descr="preencoded.png">
            <a:extLst>
              <a:ext uri="{FF2B5EF4-FFF2-40B4-BE49-F238E27FC236}">
                <a16:creationId xmlns:a16="http://schemas.microsoft.com/office/drawing/2014/main" id="{7097B8D4-FAB8-CD69-C7A8-38665167A05F}"/>
              </a:ext>
            </a:extLst>
          </p:cNvPr>
          <p:cNvPicPr>
            <a:picLocks noChangeAspect="1"/>
          </p:cNvPicPr>
          <p:nvPr/>
        </p:nvPicPr>
        <p:blipFill>
          <a:blip r:embed="rId2"/>
          <a:stretch>
            <a:fillRect/>
          </a:stretch>
        </p:blipFill>
        <p:spPr>
          <a:xfrm>
            <a:off x="390047" y="979845"/>
            <a:ext cx="1104424" cy="1412240"/>
          </a:xfrm>
          <a:prstGeom prst="rect">
            <a:avLst/>
          </a:prstGeom>
        </p:spPr>
      </p:pic>
      <p:pic>
        <p:nvPicPr>
          <p:cNvPr id="7" name="Image 2" descr="preencoded.png">
            <a:extLst>
              <a:ext uri="{FF2B5EF4-FFF2-40B4-BE49-F238E27FC236}">
                <a16:creationId xmlns:a16="http://schemas.microsoft.com/office/drawing/2014/main" id="{2ED755E3-F144-4E4D-BB1B-F2479132CA30}"/>
              </a:ext>
            </a:extLst>
          </p:cNvPr>
          <p:cNvPicPr>
            <a:picLocks noChangeAspect="1"/>
          </p:cNvPicPr>
          <p:nvPr/>
        </p:nvPicPr>
        <p:blipFill>
          <a:blip r:embed="rId3"/>
          <a:stretch>
            <a:fillRect/>
          </a:stretch>
        </p:blipFill>
        <p:spPr>
          <a:xfrm>
            <a:off x="390047" y="2822619"/>
            <a:ext cx="1104424" cy="1212762"/>
          </a:xfrm>
          <a:prstGeom prst="rect">
            <a:avLst/>
          </a:prstGeom>
        </p:spPr>
      </p:pic>
      <p:sp>
        <p:nvSpPr>
          <p:cNvPr id="9" name="TextBox 8">
            <a:extLst>
              <a:ext uri="{FF2B5EF4-FFF2-40B4-BE49-F238E27FC236}">
                <a16:creationId xmlns:a16="http://schemas.microsoft.com/office/drawing/2014/main" id="{7A1CF0FE-CEC2-A36F-1F49-A868AA50F1D4}"/>
              </a:ext>
            </a:extLst>
          </p:cNvPr>
          <p:cNvSpPr txBox="1"/>
          <p:nvPr/>
        </p:nvSpPr>
        <p:spPr>
          <a:xfrm>
            <a:off x="1575751" y="2775463"/>
            <a:ext cx="9203058" cy="1200329"/>
          </a:xfrm>
          <a:prstGeom prst="rect">
            <a:avLst/>
          </a:prstGeom>
          <a:noFill/>
        </p:spPr>
        <p:txBody>
          <a:bodyPr wrap="square" rtlCol="0">
            <a:spAutoFit/>
          </a:bodyPr>
          <a:lstStyle/>
          <a:p>
            <a:r>
              <a:rPr lang="en-US" dirty="0">
                <a:solidFill>
                  <a:srgbClr val="49495A"/>
                </a:solidFill>
                <a:latin typeface="Open Sans" pitchFamily="34" charset="0"/>
                <a:ea typeface="Open Sans" pitchFamily="34" charset="-122"/>
                <a:cs typeface="Open Sans" pitchFamily="34" charset="-120"/>
              </a:rPr>
              <a:t>From</a:t>
            </a:r>
            <a:r>
              <a:rPr lang="en-US" dirty="0"/>
              <a:t> </a:t>
            </a:r>
            <a:r>
              <a:rPr lang="en-US" dirty="0">
                <a:solidFill>
                  <a:srgbClr val="49495A"/>
                </a:solidFill>
                <a:latin typeface="Open Sans" pitchFamily="34" charset="0"/>
                <a:ea typeface="Open Sans" pitchFamily="34" charset="-122"/>
                <a:cs typeface="Open Sans" pitchFamily="34" charset="-120"/>
              </a:rPr>
              <a:t>the mentioned work it is clear that Carbon steel alloy is the best for manufacturing of connecting rod. As it has the best Factor of Safety with regard to its weight and minimum deformation with high impact resistance.</a:t>
            </a:r>
          </a:p>
          <a:p>
            <a:endParaRPr lang="en-IN" dirty="0"/>
          </a:p>
        </p:txBody>
      </p:sp>
    </p:spTree>
    <p:extLst>
      <p:ext uri="{BB962C8B-B14F-4D97-AF65-F5344CB8AC3E}">
        <p14:creationId xmlns:p14="http://schemas.microsoft.com/office/powerpoint/2010/main" val="2978031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9C8A9-3FA4-AFB0-6A85-FEDE97426A6C}"/>
              </a:ext>
            </a:extLst>
          </p:cNvPr>
          <p:cNvSpPr>
            <a:spLocks noGrp="1"/>
          </p:cNvSpPr>
          <p:nvPr>
            <p:ph type="title"/>
          </p:nvPr>
        </p:nvSpPr>
        <p:spPr>
          <a:xfrm>
            <a:off x="1352231" y="269241"/>
            <a:ext cx="10018713" cy="939800"/>
          </a:xfrm>
        </p:spPr>
        <p:txBody>
          <a:bodyPr/>
          <a:lstStyle/>
          <a:p>
            <a:r>
              <a:rPr lang="en-IN" sz="4000" dirty="0">
                <a:solidFill>
                  <a:srgbClr val="403CCF"/>
                </a:solidFill>
                <a:latin typeface="Libre Baskerville" pitchFamily="34" charset="0"/>
              </a:rPr>
              <a:t>References</a:t>
            </a:r>
            <a:endParaRPr lang="en-IN" dirty="0"/>
          </a:p>
        </p:txBody>
      </p:sp>
      <p:sp>
        <p:nvSpPr>
          <p:cNvPr id="5" name="TextBox 4">
            <a:extLst>
              <a:ext uri="{FF2B5EF4-FFF2-40B4-BE49-F238E27FC236}">
                <a16:creationId xmlns:a16="http://schemas.microsoft.com/office/drawing/2014/main" id="{55653A07-D2E2-E184-757C-FE95EDEFE2E4}"/>
              </a:ext>
            </a:extLst>
          </p:cNvPr>
          <p:cNvSpPr txBox="1"/>
          <p:nvPr/>
        </p:nvSpPr>
        <p:spPr>
          <a:xfrm>
            <a:off x="1838960" y="1209041"/>
            <a:ext cx="9702800" cy="5078313"/>
          </a:xfrm>
          <a:prstGeom prst="rect">
            <a:avLst/>
          </a:prstGeom>
          <a:noFill/>
        </p:spPr>
        <p:txBody>
          <a:bodyPr wrap="square" rtlCol="0">
            <a:spAutoFit/>
          </a:bodyPr>
          <a:lstStyle/>
          <a:p>
            <a:r>
              <a:rPr lang="en-US" sz="1800" dirty="0">
                <a:solidFill>
                  <a:srgbClr val="49495A"/>
                </a:solidFill>
                <a:latin typeface="Libre Baskerville" pitchFamily="34" charset="0"/>
                <a:ea typeface="Libre Baskerville" pitchFamily="34" charset="-122"/>
                <a:cs typeface="Libre Baskerville" pitchFamily="34" charset="-120"/>
              </a:rPr>
              <a:t> </a:t>
            </a:r>
            <a:r>
              <a:rPr lang="en-IN" dirty="0">
                <a:solidFill>
                  <a:srgbClr val="49495A"/>
                </a:solidFill>
                <a:latin typeface="Libre Baskerville" pitchFamily="34" charset="0"/>
              </a:rPr>
              <a:t>[1] Suraj pal, Sunil Kumar “Design Evaluation and Optimization of </a:t>
            </a:r>
          </a:p>
          <a:p>
            <a:r>
              <a:rPr lang="en-IN" dirty="0">
                <a:solidFill>
                  <a:srgbClr val="49495A"/>
                </a:solidFill>
                <a:latin typeface="Libre Baskerville" pitchFamily="34" charset="0"/>
              </a:rPr>
              <a:t>Connecting Rod Parameters Using FEM” International Journal of </a:t>
            </a:r>
          </a:p>
          <a:p>
            <a:r>
              <a:rPr lang="en-IN" dirty="0">
                <a:solidFill>
                  <a:srgbClr val="49495A"/>
                </a:solidFill>
                <a:latin typeface="Libre Baskerville" pitchFamily="34" charset="0"/>
              </a:rPr>
              <a:t>Engineering and Management Research, Vol.-2, Issue-6, December </a:t>
            </a:r>
          </a:p>
          <a:p>
            <a:r>
              <a:rPr lang="en-IN" dirty="0">
                <a:solidFill>
                  <a:srgbClr val="49495A"/>
                </a:solidFill>
                <a:latin typeface="Libre Baskerville" pitchFamily="34" charset="0"/>
              </a:rPr>
              <a:t>2012. </a:t>
            </a:r>
          </a:p>
          <a:p>
            <a:endParaRPr lang="en-IN" dirty="0">
              <a:solidFill>
                <a:srgbClr val="49495A"/>
              </a:solidFill>
              <a:latin typeface="Libre Baskerville" pitchFamily="34" charset="0"/>
            </a:endParaRPr>
          </a:p>
          <a:p>
            <a:r>
              <a:rPr lang="en-IN" dirty="0">
                <a:solidFill>
                  <a:srgbClr val="49495A"/>
                </a:solidFill>
                <a:latin typeface="Libre Baskerville" pitchFamily="34" charset="0"/>
              </a:rPr>
              <a:t>[2] G. Naga </a:t>
            </a:r>
            <a:r>
              <a:rPr lang="en-IN" dirty="0" err="1">
                <a:solidFill>
                  <a:srgbClr val="49495A"/>
                </a:solidFill>
                <a:latin typeface="Libre Baskerville" pitchFamily="34" charset="0"/>
              </a:rPr>
              <a:t>Malleswara</a:t>
            </a:r>
            <a:r>
              <a:rPr lang="en-IN" dirty="0">
                <a:solidFill>
                  <a:srgbClr val="49495A"/>
                </a:solidFill>
                <a:latin typeface="Libre Baskerville" pitchFamily="34" charset="0"/>
              </a:rPr>
              <a:t> </a:t>
            </a:r>
            <a:r>
              <a:rPr lang="en-IN" dirty="0" err="1">
                <a:solidFill>
                  <a:srgbClr val="49495A"/>
                </a:solidFill>
                <a:latin typeface="Libre Baskerville" pitchFamily="34" charset="0"/>
              </a:rPr>
              <a:t>rao</a:t>
            </a:r>
            <a:r>
              <a:rPr lang="en-IN" dirty="0">
                <a:solidFill>
                  <a:srgbClr val="49495A"/>
                </a:solidFill>
                <a:latin typeface="Libre Baskerville" pitchFamily="34" charset="0"/>
              </a:rPr>
              <a:t> “Design Optimization and Analysis of a </a:t>
            </a:r>
          </a:p>
          <a:p>
            <a:r>
              <a:rPr lang="en-IN" dirty="0">
                <a:solidFill>
                  <a:srgbClr val="49495A"/>
                </a:solidFill>
                <a:latin typeface="Libre Baskerville" pitchFamily="34" charset="0"/>
              </a:rPr>
              <a:t>Connecting Rod using ANSYS” International Journal of Science and </a:t>
            </a:r>
          </a:p>
          <a:p>
            <a:r>
              <a:rPr lang="en-IN" dirty="0">
                <a:solidFill>
                  <a:srgbClr val="49495A"/>
                </a:solidFill>
                <a:latin typeface="Libre Baskerville" pitchFamily="34" charset="0"/>
              </a:rPr>
              <a:t>Research (IJSR),july-2013 </a:t>
            </a:r>
          </a:p>
          <a:p>
            <a:endParaRPr lang="en-IN" dirty="0">
              <a:solidFill>
                <a:srgbClr val="49495A"/>
              </a:solidFill>
              <a:latin typeface="Libre Baskerville" pitchFamily="34" charset="0"/>
            </a:endParaRPr>
          </a:p>
          <a:p>
            <a:r>
              <a:rPr lang="en-IN" dirty="0">
                <a:solidFill>
                  <a:srgbClr val="49495A"/>
                </a:solidFill>
                <a:latin typeface="Libre Baskerville" pitchFamily="34" charset="0"/>
              </a:rPr>
              <a:t>[3] </a:t>
            </a:r>
            <a:r>
              <a:rPr lang="en-IN" dirty="0" err="1">
                <a:solidFill>
                  <a:srgbClr val="49495A"/>
                </a:solidFill>
                <a:latin typeface="Libre Baskerville" pitchFamily="34" charset="0"/>
              </a:rPr>
              <a:t>K.Sudarshan</a:t>
            </a:r>
            <a:r>
              <a:rPr lang="en-IN" dirty="0">
                <a:solidFill>
                  <a:srgbClr val="49495A"/>
                </a:solidFill>
                <a:latin typeface="Libre Baskerville" pitchFamily="34" charset="0"/>
              </a:rPr>
              <a:t> </a:t>
            </a:r>
            <a:r>
              <a:rPr lang="en-IN" dirty="0" err="1">
                <a:solidFill>
                  <a:srgbClr val="49495A"/>
                </a:solidFill>
                <a:latin typeface="Libre Baskerville" pitchFamily="34" charset="0"/>
              </a:rPr>
              <a:t>kumar</a:t>
            </a:r>
            <a:r>
              <a:rPr lang="en-IN" dirty="0">
                <a:solidFill>
                  <a:srgbClr val="49495A"/>
                </a:solidFill>
                <a:latin typeface="Libre Baskerville" pitchFamily="34" charset="0"/>
              </a:rPr>
              <a:t>, </a:t>
            </a:r>
            <a:r>
              <a:rPr lang="en-IN" dirty="0" err="1">
                <a:solidFill>
                  <a:srgbClr val="49495A"/>
                </a:solidFill>
                <a:latin typeface="Libre Baskerville" pitchFamily="34" charset="0"/>
              </a:rPr>
              <a:t>K.tirupathi</a:t>
            </a:r>
            <a:r>
              <a:rPr lang="en-IN" dirty="0">
                <a:solidFill>
                  <a:srgbClr val="49495A"/>
                </a:solidFill>
                <a:latin typeface="Libre Baskerville" pitchFamily="34" charset="0"/>
              </a:rPr>
              <a:t> </a:t>
            </a:r>
            <a:r>
              <a:rPr lang="en-IN" dirty="0" err="1">
                <a:solidFill>
                  <a:srgbClr val="49495A"/>
                </a:solidFill>
                <a:latin typeface="Libre Baskerville" pitchFamily="34" charset="0"/>
              </a:rPr>
              <a:t>reddy</a:t>
            </a:r>
            <a:r>
              <a:rPr lang="en-IN" dirty="0">
                <a:solidFill>
                  <a:srgbClr val="49495A"/>
                </a:solidFill>
                <a:latin typeface="Libre Baskerville" pitchFamily="34" charset="0"/>
              </a:rPr>
              <a:t>, Syed Altaf Hussain, </a:t>
            </a:r>
          </a:p>
          <a:p>
            <a:r>
              <a:rPr lang="en-IN" dirty="0">
                <a:solidFill>
                  <a:srgbClr val="49495A"/>
                </a:solidFill>
                <a:latin typeface="Libre Baskerville" pitchFamily="34" charset="0"/>
              </a:rPr>
              <a:t>“Modelling and analysis of two-wheeler connecting rod” International </a:t>
            </a:r>
          </a:p>
          <a:p>
            <a:r>
              <a:rPr lang="en-IN" dirty="0">
                <a:solidFill>
                  <a:srgbClr val="49495A"/>
                </a:solidFill>
                <a:latin typeface="Libre Baskerville" pitchFamily="34" charset="0"/>
              </a:rPr>
              <a:t>journal of modern engineering research, October-2012. </a:t>
            </a:r>
          </a:p>
          <a:p>
            <a:endParaRPr lang="en-IN" dirty="0">
              <a:solidFill>
                <a:srgbClr val="49495A"/>
              </a:solidFill>
              <a:latin typeface="Libre Baskerville" pitchFamily="34" charset="0"/>
            </a:endParaRPr>
          </a:p>
          <a:p>
            <a:r>
              <a:rPr lang="en-IN" dirty="0">
                <a:solidFill>
                  <a:srgbClr val="49495A"/>
                </a:solidFill>
                <a:latin typeface="Libre Baskerville" pitchFamily="34" charset="0"/>
              </a:rPr>
              <a:t>[4] Julee Sahu, Jitendra Jayanth, “Design and analysis of Connecting rod </a:t>
            </a:r>
          </a:p>
          <a:p>
            <a:r>
              <a:rPr lang="en-IN" dirty="0">
                <a:solidFill>
                  <a:srgbClr val="49495A"/>
                </a:solidFill>
                <a:latin typeface="Libre Baskerville" pitchFamily="34" charset="0"/>
              </a:rPr>
              <a:t>with Aluminium Alloys Replacing cast iron and steel for Internal </a:t>
            </a:r>
          </a:p>
          <a:p>
            <a:r>
              <a:rPr lang="en-IN" dirty="0">
                <a:solidFill>
                  <a:srgbClr val="49495A"/>
                </a:solidFill>
                <a:latin typeface="Libre Baskerville" pitchFamily="34" charset="0"/>
              </a:rPr>
              <a:t>combustion engines with the help of ANSYS”, International journal of </a:t>
            </a:r>
          </a:p>
          <a:p>
            <a:r>
              <a:rPr lang="en-IN" dirty="0">
                <a:solidFill>
                  <a:srgbClr val="49495A"/>
                </a:solidFill>
                <a:latin typeface="Libre Baskerville" pitchFamily="34" charset="0"/>
              </a:rPr>
              <a:t>multi-disciplinary research centre December-2015</a:t>
            </a:r>
          </a:p>
          <a:p>
            <a:endParaRPr lang="en-IN" dirty="0"/>
          </a:p>
        </p:txBody>
      </p:sp>
    </p:spTree>
    <p:extLst>
      <p:ext uri="{BB962C8B-B14F-4D97-AF65-F5344CB8AC3E}">
        <p14:creationId xmlns:p14="http://schemas.microsoft.com/office/powerpoint/2010/main" val="3479412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77A8CA-E7BF-79A5-0CD3-570A8DB0A0E8}"/>
              </a:ext>
            </a:extLst>
          </p:cNvPr>
          <p:cNvSpPr txBox="1"/>
          <p:nvPr/>
        </p:nvSpPr>
        <p:spPr>
          <a:xfrm>
            <a:off x="4188541" y="2222090"/>
            <a:ext cx="3409908" cy="707886"/>
          </a:xfrm>
          <a:prstGeom prst="rect">
            <a:avLst/>
          </a:prstGeom>
          <a:noFill/>
        </p:spPr>
        <p:txBody>
          <a:bodyPr wrap="none" rtlCol="0">
            <a:spAutoFit/>
          </a:bodyPr>
          <a:lstStyle/>
          <a:p>
            <a:r>
              <a:rPr lang="en-IN" sz="4000" dirty="0">
                <a:ln w="3175" cmpd="sng">
                  <a:noFill/>
                </a:ln>
                <a:solidFill>
                  <a:srgbClr val="403CCF"/>
                </a:solidFill>
                <a:latin typeface="Libre Baskerville" pitchFamily="34" charset="0"/>
                <a:ea typeface="+mj-ea"/>
                <a:cs typeface="+mj-cs"/>
              </a:rPr>
              <a:t>T</a:t>
            </a:r>
            <a:r>
              <a:rPr kumimoji="0" lang="en-IN" sz="4000" b="0" i="0" u="none" strike="noStrike" kern="1200" cap="none" spc="0" normalizeH="0" baseline="0" noProof="0" dirty="0">
                <a:ln w="3175" cmpd="sng">
                  <a:noFill/>
                </a:ln>
                <a:solidFill>
                  <a:srgbClr val="403CCF"/>
                </a:solidFill>
                <a:effectLst/>
                <a:uLnTx/>
                <a:uFillTx/>
                <a:latin typeface="Libre Baskerville" pitchFamily="34" charset="0"/>
                <a:ea typeface="+mj-ea"/>
                <a:cs typeface="+mj-cs"/>
              </a:rPr>
              <a:t>hank You !</a:t>
            </a:r>
            <a:endParaRPr lang="en-IN" dirty="0"/>
          </a:p>
        </p:txBody>
      </p:sp>
    </p:spTree>
    <p:extLst>
      <p:ext uri="{BB962C8B-B14F-4D97-AF65-F5344CB8AC3E}">
        <p14:creationId xmlns:p14="http://schemas.microsoft.com/office/powerpoint/2010/main" val="29236411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375921e-2fd8-40f8-999f-74613557e54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CF45A1328603B4BA26CB8ECE388C762" ma:contentTypeVersion="6" ma:contentTypeDescription="Create a new document." ma:contentTypeScope="" ma:versionID="753d0bb661b4a5da0079e98d897c298b">
  <xsd:schema xmlns:xsd="http://www.w3.org/2001/XMLSchema" xmlns:xs="http://www.w3.org/2001/XMLSchema" xmlns:p="http://schemas.microsoft.com/office/2006/metadata/properties" xmlns:ns3="1375921e-2fd8-40f8-999f-74613557e54a" targetNamespace="http://schemas.microsoft.com/office/2006/metadata/properties" ma:root="true" ma:fieldsID="2cf1ab0409bffe24d5d11d95e6195ed1" ns3:_="">
    <xsd:import namespace="1375921e-2fd8-40f8-999f-74613557e54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75921e-2fd8-40f8-999f-74613557e54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820265-4E35-4A3F-904F-7AFFEC70419C}">
  <ds:schemaRefs>
    <ds:schemaRef ds:uri="http://schemas.microsoft.com/office/infopath/2007/PartnerControls"/>
    <ds:schemaRef ds:uri="http://schemas.microsoft.com/office/2006/metadata/properties"/>
    <ds:schemaRef ds:uri="http://www.w3.org/XML/1998/namespace"/>
    <ds:schemaRef ds:uri="http://purl.org/dc/terms/"/>
    <ds:schemaRef ds:uri="1375921e-2fd8-40f8-999f-74613557e54a"/>
    <ds:schemaRef ds:uri="http://purl.org/dc/dcmitype/"/>
    <ds:schemaRef ds:uri="http://schemas.microsoft.com/office/2006/documentManagement/types"/>
    <ds:schemaRef ds:uri="http://purl.org/dc/elements/1.1/"/>
    <ds:schemaRef ds:uri="http://schemas.openxmlformats.org/package/2006/metadata/core-properties"/>
  </ds:schemaRefs>
</ds:datastoreItem>
</file>

<file path=customXml/itemProps2.xml><?xml version="1.0" encoding="utf-8"?>
<ds:datastoreItem xmlns:ds="http://schemas.openxmlformats.org/officeDocument/2006/customXml" ds:itemID="{2F50FDE6-D99B-4EE6-B2B3-0832A754C78E}">
  <ds:schemaRefs>
    <ds:schemaRef ds:uri="http://schemas.microsoft.com/sharepoint/v3/contenttype/forms"/>
  </ds:schemaRefs>
</ds:datastoreItem>
</file>

<file path=customXml/itemProps3.xml><?xml version="1.0" encoding="utf-8"?>
<ds:datastoreItem xmlns:ds="http://schemas.openxmlformats.org/officeDocument/2006/customXml" ds:itemID="{E393F05A-E3F0-422D-9524-A573A72DF2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75921e-2fd8-40f8-999f-74613557e54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Parallax</Template>
  <TotalTime>603</TotalTime>
  <Words>887</Words>
  <Application>Microsoft Office PowerPoint</Application>
  <PresentationFormat>Widescreen</PresentationFormat>
  <Paragraphs>135</Paragraphs>
  <Slides>11</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-apple-system</vt:lpstr>
      <vt:lpstr>Aptos</vt:lpstr>
      <vt:lpstr>Arial</vt:lpstr>
      <vt:lpstr>Calibri</vt:lpstr>
      <vt:lpstr>Century Gothic</vt:lpstr>
      <vt:lpstr>Corbel</vt:lpstr>
      <vt:lpstr>Libre Baskerville</vt:lpstr>
      <vt:lpstr>Open Sans</vt:lpstr>
      <vt:lpstr>Parallax</vt:lpstr>
      <vt:lpstr>PowerPoint Presentation</vt:lpstr>
      <vt:lpstr>PowerPoint Presentation</vt:lpstr>
      <vt:lpstr>Connecting rod specifications </vt:lpstr>
      <vt:lpstr>PowerPoint Presentation</vt:lpstr>
      <vt:lpstr>PowerPoint Presentation</vt:lpstr>
      <vt:lpstr>PowerPoint Presentation</vt:lpstr>
      <vt:lpstr>PowerPoint Presentation</vt:lpstr>
      <vt:lpstr>PowerPoint Presentation</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sayprint</dc:creator>
  <cp:lastModifiedBy>sayprint</cp:lastModifiedBy>
  <cp:revision>16</cp:revision>
  <dcterms:created xsi:type="dcterms:W3CDTF">2025-05-02T13:27:17Z</dcterms:created>
  <dcterms:modified xsi:type="dcterms:W3CDTF">2025-05-03T08:54:37Z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0x0101009CF45A1328603B4BA26CB8ECE388C762</vt:lpwstr>
  </property>
</Properties>
</file>